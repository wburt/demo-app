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saw this diagram previously.
Today we are going to learn how components like Deployments, Services, and Routes are defined using Helm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&lt;as in slides&gt;
The charts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&lt;as in slides&gt;
Helm charts will reside in a chart folder
There are charts for deployment, service, and route
Additional charts include:
knp (kubernetes network policy)
hpa (horizontal pod autoscaling)
Chart.yaml will provide basic information about your application (name, version, etc)
values.yaml is one of the most important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&lt;as in slides&gt;
It is very important for values to be defined and referenced. Many objects in openshift will require consistent tags and selectors, for example to work together
-If you forget to change something, then things can easily stop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&lt;as in slides&gt;
We will use deployment.yaml as a specific example to see how a helm chart is built. 
The other charts will have different stuff in them, but they will follow a very similar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&lt;as in slides&gt;
This is the most basic way to reference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&lt;as in slides&gt;
We will use deployment.yaml as a specific example to see how a helm chart is built. 
The other charts will have different stuff in them, but they will follow a very similar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&lt;as in slides&gt;
Conditional blocks allow deployment.yaml to populate optional sections only if they are present in the values.yaml
There are two types of conditional block. This is the first
In this example, resources is an optional section in a deployment. Your cluster will have defaults that get put in if these aren't specified.
The format uses a single dash to strip white space and 'with', means we are grabbing this value to check
You have to convert the object back to yaml, and set the indentation. This is important because in many cases, you're grabbing a block of values, and you must maintain the indentation in your deployment.yaml
This is useful for development. Because some values are optional, you can focus on the required ones before looking at the optional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&lt;as in slides&gt;
Conditional blocks allow deployment.yaml to populate optional sections only if they are present in the values.yaml
There are two types of conditional block. This is the second
In this example, This evaluates whether autoscaling is turned on
The format is a simple if statement.
Most if statements I have seen only evaluate the truthiness of a value. I haven't seen more complex instances
This is useful for development. Because some values are optional, you can focus on the required ones before looking at the optional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&lt;as in slides&gt;
Conditional blocks allow deployment.yaml to populate optional sections only if they are present in the values.yaml
There are two types of conditional block. This is the first
In this example, This evaluates whether autoscaling is turned on
The format is a simple if statement.
Most if statements I have seen only evaluate the truthiness of a value. I haven't seen more complex instances
This is useful for development. Because some values are optional, you can focus on the required ones before looking at the optional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the basics of how to read the yamls, we can look at what some of the sections mean.
We won't go over all the sections, but we will hit some of the critical ones for a deployment.yaml
Other files, such as service.yaml will follow a similar structure, with their own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is defining what type of configuration this is. This changes depending on whether its a deployment, service, route, etc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metadata labels will be important for selectors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will be the majority of your configuration. It sets pod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will have your autoscaling settings and your matchlabels, again for matching deployment to pod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template section will set annotations and labels again.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template.spec sets some metadata before diving into containers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on to spec.template.spec.containers. This will contain a lot of the high impact values.
We will have things like name and security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this is also where the image and pull policy is defined.
This is the string concatenation from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also port definitions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resource definition from last time.
This will help some of the issues we had last week with namespace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resource definition from last time.
This will help some of the issues we had last week with namespace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anyone want a quick recap of the value formatting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609600" y="2124075"/>
            <a:ext cx="5715000" cy="900113"/>
          </a:xfrm>
          <a:prstGeom prst="rect">
            <a:avLst/>
          </a:prstGeom>
          <a:noFill/>
          <a:ln/>
        </p:spPr>
      </p:sp>
      <p:sp>
        <p:nvSpPr>
          <p:cNvPr id="3" name="Text 1"/>
          <p:cNvSpPr/>
          <p:nvPr/>
        </p:nvSpPr>
        <p:spPr>
          <a:xfrm>
            <a:off x="609600" y="2124075"/>
            <a:ext cx="6172200" cy="547688"/>
          </a:xfrm>
          <a:prstGeom prst="rect">
            <a:avLst/>
          </a:prstGeom>
          <a:noFill/>
          <a:ln/>
        </p:spPr>
        <p:txBody>
          <a:bodyPr wrap="square" rtlCol="0" anchor="ctr"/>
          <a:lstStyle/>
          <a:p>
            <a:pPr algn="l" indent="0" marL="0">
              <a:lnSpc>
                <a:spcPts val="4320"/>
              </a:lnSpc>
              <a:buNone/>
            </a:pPr>
            <a:r>
              <a:rPr lang="en-US" sz="3600" b="1" spc="-72" kern="0" dirty="0">
                <a:solidFill>
                  <a:srgbClr val="FFFFFF">
                    <a:alpha val="99000"/>
                  </a:srgbClr>
                </a:solidFill>
                <a:latin typeface="Inter" pitchFamily="34" charset="0"/>
                <a:ea typeface="Inter" pitchFamily="34" charset="-122"/>
                <a:cs typeface="Inter" pitchFamily="34" charset="-120"/>
              </a:rPr>
              <a:t>Helm</a:t>
            </a:r>
            <a:endParaRPr lang="en-US" sz="3600" dirty="0"/>
          </a:p>
        </p:txBody>
      </p:sp>
      <p:sp>
        <p:nvSpPr>
          <p:cNvPr id="4" name="Text 2"/>
          <p:cNvSpPr/>
          <p:nvPr/>
        </p:nvSpPr>
        <p:spPr>
          <a:xfrm>
            <a:off x="609600" y="2786063"/>
            <a:ext cx="6172200" cy="238125"/>
          </a:xfrm>
          <a:prstGeom prst="rect">
            <a:avLst/>
          </a:prstGeom>
          <a:noFill/>
          <a:ln/>
        </p:spPr>
        <p:txBody>
          <a:bodyPr wrap="square" rtlCol="0" anchor="ctr"/>
          <a:lstStyle/>
          <a:p>
            <a:pPr algn="l" indent="0" marL="0">
              <a:lnSpc>
                <a:spcPts val="1890"/>
              </a:lnSpc>
              <a:buNone/>
            </a:pPr>
            <a:r>
              <a:rPr lang="en-US" sz="1350" spc="-13" kern="0" dirty="0">
                <a:solidFill>
                  <a:srgbClr val="FFFFFF">
                    <a:alpha val="99000"/>
                  </a:srgbClr>
                </a:solidFill>
                <a:latin typeface="Inter" pitchFamily="34" charset="0"/>
                <a:ea typeface="Inter" pitchFamily="34" charset="-122"/>
                <a:cs typeface="Inter" pitchFamily="34" charset="-120"/>
              </a:rPr>
              <a:t>It’s YAML all the way down</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1E1E"/>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609600" y="1671638"/>
            <a:ext cx="7505700" cy="2509838"/>
          </a:xfrm>
          <a:prstGeom prst="rect">
            <a:avLst/>
          </a:prstGeom>
        </p:spPr>
      </p:pic>
      <p:sp>
        <p:nvSpPr>
          <p:cNvPr id="4" name="Text 0"/>
          <p:cNvSpPr/>
          <p:nvPr/>
        </p:nvSpPr>
        <p:spPr>
          <a:xfrm>
            <a:off x="609600" y="2300288"/>
            <a:ext cx="6172200" cy="547688"/>
          </a:xfrm>
          <a:prstGeom prst="rect">
            <a:avLst/>
          </a:prstGeom>
          <a:noFill/>
          <a:ln/>
        </p:spPr>
        <p:txBody>
          <a:bodyPr wrap="square" rtlCol="0" anchor="ctr"/>
          <a:lstStyle/>
          <a:p>
            <a:pPr algn="l" indent="0" marL="0">
              <a:lnSpc>
                <a:spcPts val="4320"/>
              </a:lnSpc>
              <a:buNone/>
            </a:pPr>
            <a:r>
              <a:rPr lang="en-US" sz="3600" b="1" spc="-72" kern="0" dirty="0">
                <a:solidFill>
                  <a:srgbClr val="FFFFFF">
                    <a:alpha val="99000"/>
                  </a:srgbClr>
                </a:solidFill>
                <a:latin typeface="Inter" pitchFamily="34" charset="0"/>
                <a:ea typeface="Inter" pitchFamily="34" charset="-122"/>
                <a:cs typeface="Inter" pitchFamily="34" charset="-120"/>
              </a:rPr>
              <a:t>Section title</a:t>
            </a:r>
            <a:endParaRPr lang="en-US"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1E1E"/>
        </a:solidFill>
      </p:bgPr>
    </p:bg>
    <p:spTree>
      <p:nvGrpSpPr>
        <p:cNvPr id="1" name=""/>
        <p:cNvGrpSpPr/>
        <p:nvPr/>
      </p:nvGrpSpPr>
      <p:grpSpPr>
        <a:xfrm>
          <a:off x="0" y="0"/>
          <a:ext cx="0" cy="0"/>
          <a:chOff x="0" y="0"/>
          <a:chExt cx="0" cy="0"/>
        </a:xfrm>
      </p:grpSpPr>
      <p:sp>
        <p:nvSpPr>
          <p:cNvPr id="3" name="Shape 0"/>
          <p:cNvSpPr/>
          <p:nvPr/>
        </p:nvSpPr>
        <p:spPr>
          <a:xfrm>
            <a:off x="4610100" y="2433638"/>
            <a:ext cx="3238500" cy="1219200"/>
          </a:xfrm>
          <a:prstGeom prst="rect">
            <a:avLst/>
          </a:prstGeom>
          <a:noFill/>
          <a:ln/>
        </p:spPr>
      </p:sp>
      <p:sp>
        <p:nvSpPr>
          <p:cNvPr id="4" name="Text 1"/>
          <p:cNvSpPr/>
          <p:nvPr/>
        </p:nvSpPr>
        <p:spPr>
          <a:xfrm>
            <a:off x="609600" y="2433638"/>
            <a:ext cx="31242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What is Helm?</a:t>
            </a:r>
            <a:endParaRPr lang="en-US" sz="1800" dirty="0"/>
          </a:p>
        </p:txBody>
      </p:sp>
      <p:sp>
        <p:nvSpPr>
          <p:cNvPr id="5" name="Text 2"/>
          <p:cNvSpPr/>
          <p:nvPr/>
        </p:nvSpPr>
        <p:spPr>
          <a:xfrm>
            <a:off x="4610100" y="2433638"/>
            <a:ext cx="3695700" cy="228600"/>
          </a:xfrm>
          <a:prstGeom prst="rect">
            <a:avLst/>
          </a:prstGeom>
          <a:noFill/>
          <a:ln/>
        </p:spPr>
        <p:txBody>
          <a:bodyPr wrap="square" rtlCol="0" anchor="ctr"/>
          <a:lstStyle/>
          <a:p>
            <a:pPr algn="l" indent="0" marL="0">
              <a:lnSpc>
                <a:spcPts val="1782"/>
              </a:lnSpc>
              <a:buNone/>
            </a:pPr>
            <a:r>
              <a:rPr lang="en-US" sz="1350" b="1" spc="-27" kern="0" dirty="0">
                <a:solidFill>
                  <a:srgbClr val="FFFFFF">
                    <a:alpha val="99000"/>
                  </a:srgbClr>
                </a:solidFill>
                <a:latin typeface="Inter" pitchFamily="34" charset="0"/>
                <a:ea typeface="Inter" pitchFamily="34" charset="-122"/>
                <a:cs typeface="Inter" pitchFamily="34" charset="-120"/>
              </a:rPr>
              <a:t>What is it?</a:t>
            </a:r>
            <a:endParaRPr lang="en-US" sz="1350" dirty="0"/>
          </a:p>
        </p:txBody>
      </p:sp>
      <p:sp>
        <p:nvSpPr>
          <p:cNvPr id="6" name="Text 3"/>
          <p:cNvSpPr/>
          <p:nvPr/>
        </p:nvSpPr>
        <p:spPr>
          <a:xfrm>
            <a:off x="4610100" y="2738438"/>
            <a:ext cx="3695700" cy="914400"/>
          </a:xfrm>
          <a:prstGeom prst="rect">
            <a:avLst/>
          </a:prstGeom>
          <a:noFill/>
          <a:ln/>
        </p:spPr>
        <p:txBody>
          <a:bodyPr wrap="square" rtlCol="0" anchor="ctr"/>
          <a:lstStyle/>
          <a:p>
            <a:pPr algn="l" indent="0" marL="0">
              <a:lnSpc>
                <a:spcPts val="1206"/>
              </a:lnSpc>
              <a:buNone/>
            </a:pPr>
            <a:r>
              <a:rPr lang="en-US" sz="900" spc="-5" kern="0" dirty="0">
                <a:solidFill>
                  <a:srgbClr val="FFFFFF">
                    <a:alpha val="99000"/>
                  </a:srgbClr>
                </a:solidFill>
                <a:latin typeface="Inter" pitchFamily="34" charset="0"/>
                <a:ea typeface="Inter" pitchFamily="34" charset="-122"/>
                <a:cs typeface="Inter" pitchFamily="34" charset="-120"/>
              </a:rPr>
              <a:t>Helm is used to manage kubernetes (and OpenShift) applications</a:t>
            </a:r>
            <a:endParaRPr lang="en-US" sz="900" dirty="0"/>
          </a:p>
          <a:p>
            <a:pPr algn="l" marL="342900" indent="-342900">
              <a:lnSpc>
                <a:spcPts val="1206"/>
              </a:lnSpc>
              <a:buSzPct val="100000"/>
              <a:buChar char="•"/>
            </a:pPr>
            <a:r>
              <a:rPr lang="en-US" sz="900" spc="-5" kern="0" dirty="0">
                <a:solidFill>
                  <a:srgbClr val="FFFFFF">
                    <a:alpha val="99000"/>
                  </a:srgbClr>
                </a:solidFill>
                <a:latin typeface="Inter" pitchFamily="34" charset="0"/>
                <a:ea typeface="Inter" pitchFamily="34" charset="-122"/>
                <a:cs typeface="Inter" pitchFamily="34" charset="-120"/>
              </a:rPr>
              <a:t>It manages charts, which define all the parameters required for a deployment</a:t>
            </a:r>
            <a:endParaRPr lang="en-US" sz="900" dirty="0"/>
          </a:p>
          <a:p>
            <a:pPr algn="l" marL="342900" indent="-342900">
              <a:lnSpc>
                <a:spcPts val="1206"/>
              </a:lnSpc>
              <a:buSzPct val="100000"/>
              <a:buChar char="•"/>
            </a:pPr>
            <a:r>
              <a:rPr lang="en-US" sz="900" spc="-5" kern="0" dirty="0">
                <a:solidFill>
                  <a:srgbClr val="FFFFFF">
                    <a:alpha val="99000"/>
                  </a:srgbClr>
                </a:solidFill>
                <a:latin typeface="Inter" pitchFamily="34" charset="0"/>
                <a:ea typeface="Inter" pitchFamily="34" charset="-122"/>
                <a:cs typeface="Inter" pitchFamily="34" charset="-120"/>
              </a:rPr>
              <a:t>Create, install, uninstall applications using charts</a:t>
            </a:r>
            <a:endParaRPr lang="en-US" sz="900" dirty="0"/>
          </a:p>
          <a:p>
            <a:pPr algn="l" marL="342900" indent="-342900">
              <a:lnSpc>
                <a:spcPts val="1206"/>
              </a:lnSpc>
              <a:buSzPct val="100000"/>
              <a:buChar char="•"/>
            </a:pPr>
            <a:r>
              <a:rPr lang="en-US" sz="900" spc="-5" kern="0" dirty="0">
                <a:solidFill>
                  <a:srgbClr val="FFFFFF">
                    <a:alpha val="99000"/>
                  </a:srgbClr>
                </a:solidFill>
                <a:latin typeface="Inter" pitchFamily="34" charset="0"/>
                <a:ea typeface="Inter" pitchFamily="34" charset="-122"/>
                <a:cs typeface="Inter" pitchFamily="34" charset="-120"/>
              </a:rPr>
              <a:t>Easy to integrate into automated CI/CD processes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1E1E"/>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762000" y="1423988"/>
            <a:ext cx="1647825" cy="3086100"/>
          </a:xfrm>
          <a:prstGeom prst="rect">
            <a:avLst/>
          </a:prstGeom>
        </p:spPr>
      </p:pic>
      <p:sp>
        <p:nvSpPr>
          <p:cNvPr id="4" name="Text 0"/>
          <p:cNvSpPr/>
          <p:nvPr/>
        </p:nvSpPr>
        <p:spPr>
          <a:xfrm>
            <a:off x="609600" y="866775"/>
            <a:ext cx="31242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Structure</a:t>
            </a:r>
            <a:endParaRPr lang="en-US" sz="1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9562" y="666750"/>
          <a:ext cx="4419600" cy="4152900"/>
        </p:xfrm>
        <a:graphic>
          <a:graphicData uri="http://schemas.openxmlformats.org/drawingml/2006/table">
            <a:tbl>
              <a:tblPr/>
              <a:tblGrid>
                <a:gridCol w="1409700"/>
                <a:gridCol w="3009900"/>
              </a:tblGrid>
              <a:tr h="495300">
                <a:tc>
                  <a:txBody>
                    <a:bodyPr/>
                    <a:lstStyle/>
                    <a:p>
                      <a:pPr algn="l" indent="0" marL="0">
                        <a:lnSpc>
                          <a:spcPts val="1188"/>
                        </a:lnSpc>
                        <a:buNone/>
                      </a:pPr>
                      <a:r>
                        <a:rPr lang="en-US" sz="900" b="1" spc="-18" kern="0" dirty="0">
                          <a:solidFill>
                            <a:srgbClr val="FFFFFF">
                              <a:alpha val="99000"/>
                            </a:srgbClr>
                          </a:solidFill>
                          <a:latin typeface="Inter" pitchFamily="34" charset="0"/>
                          <a:ea typeface="Inter" pitchFamily="34" charset="-122"/>
                          <a:cs typeface="Inter" pitchFamily="34" charset="-120"/>
                        </a:rPr>
                        <a:t>Charts.yaml</a:t>
                      </a:r>
                      <a:endParaRPr lang="en-US" sz="12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24242"/>
                    </a:solidFill>
                  </a:tcPr>
                </a:tc>
                <a:tc>
                  <a:txBody>
                    <a:bodyPr/>
                    <a:lstStyle/>
                    <a:p>
                      <a:pPr algn="l" indent="0" marL="0">
                        <a:lnSpc>
                          <a:spcPts val="1206"/>
                        </a:lnSpc>
                        <a:buNone/>
                      </a:pPr>
                      <a:r>
                        <a:rPr lang="en-US" sz="900" spc="-5" kern="0" dirty="0">
                          <a:solidFill>
                            <a:srgbClr val="FFFFFF">
                              <a:alpha val="99000"/>
                            </a:srgbClr>
                          </a:solidFill>
                          <a:latin typeface="Inter" pitchFamily="34" charset="0"/>
                          <a:ea typeface="Inter" pitchFamily="34" charset="-122"/>
                          <a:cs typeface="Inter" pitchFamily="34" charset="-120"/>
                        </a:rPr>
                        <a:t>Basic info.</a:t>
                      </a:r>
                      <a:endParaRPr lang="en-US" sz="1200" dirty="0"/>
                    </a:p>
                    <a:p>
                      <a:pPr algn="l" indent="0" marL="0">
                        <a:lnSpc>
                          <a:spcPts val="1206"/>
                        </a:lnSpc>
                        <a:buNone/>
                      </a:pPr>
                      <a:r>
                        <a:rPr lang="en-US" sz="900" spc="-5" kern="0" dirty="0">
                          <a:solidFill>
                            <a:srgbClr val="FFFFFF">
                              <a:alpha val="99000"/>
                            </a:srgbClr>
                          </a:solidFill>
                          <a:latin typeface="Inter" pitchFamily="34" charset="0"/>
                          <a:ea typeface="Inter" pitchFamily="34" charset="-122"/>
                          <a:cs typeface="Inter" pitchFamily="34" charset="-120"/>
                        </a:rPr>
                        <a:t>Name, version, description, dependencies</a:t>
                      </a:r>
                      <a:endParaRPr lang="en-US" sz="12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24242"/>
                    </a:solidFill>
                  </a:tcPr>
                </a:tc>
              </a:tr>
              <a:tr h="342900">
                <a:tc>
                  <a:txBody>
                    <a:bodyPr/>
                    <a:lstStyle/>
                    <a:p>
                      <a:pPr algn="l" indent="0" marL="0">
                        <a:lnSpc>
                          <a:spcPts val="1188"/>
                        </a:lnSpc>
                        <a:buNone/>
                      </a:pPr>
                      <a:r>
                        <a:rPr lang="en-US" sz="900" b="1" spc="-18" kern="0" dirty="0">
                          <a:solidFill>
                            <a:srgbClr val="FFFFFF">
                              <a:alpha val="99000"/>
                            </a:srgbClr>
                          </a:solidFill>
                          <a:latin typeface="Inter" pitchFamily="34" charset="0"/>
                          <a:ea typeface="Inter" pitchFamily="34" charset="-122"/>
                          <a:cs typeface="Inter" pitchFamily="34" charset="-120"/>
                        </a:rPr>
                        <a:t>values.yaml</a:t>
                      </a:r>
                      <a:endParaRPr lang="en-US" sz="12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24242"/>
                    </a:solidFill>
                  </a:tcPr>
                </a:tc>
                <a:tc>
                  <a:txBody>
                    <a:bodyPr/>
                    <a:lstStyle/>
                    <a:p>
                      <a:pPr algn="l" indent="0" marL="0">
                        <a:lnSpc>
                          <a:spcPts val="1206"/>
                        </a:lnSpc>
                        <a:buNone/>
                      </a:pPr>
                      <a:r>
                        <a:rPr lang="en-US" sz="900" spc="-5" kern="0" dirty="0">
                          <a:solidFill>
                            <a:srgbClr val="FFFFFF">
                              <a:alpha val="99000"/>
                            </a:srgbClr>
                          </a:solidFill>
                          <a:latin typeface="Inter" pitchFamily="34" charset="0"/>
                          <a:ea typeface="Inter" pitchFamily="34" charset="-122"/>
                          <a:cs typeface="Inter" pitchFamily="34" charset="-120"/>
                        </a:rPr>
                        <a:t>Defines values used by all the other templates</a:t>
                      </a:r>
                      <a:endParaRPr lang="en-US" sz="12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24242"/>
                    </a:solidFill>
                  </a:tcPr>
                </a:tc>
              </a:tr>
              <a:tr h="342900">
                <a:tc>
                  <a:txBody>
                    <a:bodyPr/>
                    <a:lstStyle/>
                    <a:p>
                      <a:pPr algn="l" indent="0" marL="0">
                        <a:lnSpc>
                          <a:spcPts val="1188"/>
                        </a:lnSpc>
                        <a:buNone/>
                      </a:pPr>
                      <a:r>
                        <a:rPr lang="en-US" sz="900" b="1" spc="-18" kern="0" dirty="0">
                          <a:solidFill>
                            <a:srgbClr val="FFFFFF">
                              <a:alpha val="99000"/>
                            </a:srgbClr>
                          </a:solidFill>
                          <a:latin typeface="Inter" pitchFamily="34" charset="0"/>
                          <a:ea typeface="Inter" pitchFamily="34" charset="-122"/>
                          <a:cs typeface="Inter" pitchFamily="34" charset="-120"/>
                        </a:rPr>
                        <a:t>_helpers.tpl</a:t>
                      </a:r>
                      <a:endParaRPr lang="en-US" sz="12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24242"/>
                    </a:solidFill>
                  </a:tcPr>
                </a:tc>
                <a:tc>
                  <a:txBody>
                    <a:bodyPr/>
                    <a:lstStyle/>
                    <a:p>
                      <a:pPr algn="l" indent="0" marL="0">
                        <a:lnSpc>
                          <a:spcPts val="1206"/>
                        </a:lnSpc>
                        <a:buNone/>
                      </a:pPr>
                      <a:r>
                        <a:rPr lang="en-US" sz="900" spc="-5" kern="0" dirty="0">
                          <a:solidFill>
                            <a:srgbClr val="FFFFFF">
                              <a:alpha val="99000"/>
                            </a:srgbClr>
                          </a:solidFill>
                          <a:latin typeface="Inter" pitchFamily="34" charset="0"/>
                          <a:ea typeface="Inter" pitchFamily="34" charset="-122"/>
                          <a:cs typeface="Inter" pitchFamily="34" charset="-120"/>
                        </a:rPr>
                        <a:t>Stores functions to define complex values</a:t>
                      </a:r>
                      <a:endParaRPr lang="en-US" sz="12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24242"/>
                    </a:solidFill>
                  </a:tcPr>
                </a:tc>
              </a:tr>
              <a:tr h="495300">
                <a:tc>
                  <a:txBody>
                    <a:bodyPr/>
                    <a:lstStyle/>
                    <a:p>
                      <a:pPr algn="l" indent="0" marL="0">
                        <a:lnSpc>
                          <a:spcPts val="1188"/>
                        </a:lnSpc>
                        <a:buNone/>
                      </a:pPr>
                      <a:r>
                        <a:rPr lang="en-US" sz="900" b="1" spc="-18" kern="0" dirty="0">
                          <a:solidFill>
                            <a:srgbClr val="FFFFFF">
                              <a:alpha val="99000"/>
                            </a:srgbClr>
                          </a:solidFill>
                          <a:latin typeface="Inter" pitchFamily="34" charset="0"/>
                          <a:ea typeface="Inter" pitchFamily="34" charset="-122"/>
                          <a:cs typeface="Inter" pitchFamily="34" charset="-120"/>
                        </a:rPr>
                        <a:t>deployment.yaml</a:t>
                      </a:r>
                      <a:endParaRPr lang="en-US" sz="12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24242"/>
                    </a:solidFill>
                  </a:tcPr>
                </a:tc>
                <a:tc>
                  <a:txBody>
                    <a:bodyPr/>
                    <a:lstStyle/>
                    <a:p>
                      <a:pPr algn="l" indent="0" marL="0">
                        <a:lnSpc>
                          <a:spcPts val="1206"/>
                        </a:lnSpc>
                        <a:buNone/>
                      </a:pPr>
                      <a:r>
                        <a:rPr lang="en-US" sz="900" spc="-5" kern="0" dirty="0">
                          <a:solidFill>
                            <a:srgbClr val="FFFFFF">
                              <a:alpha val="99000"/>
                            </a:srgbClr>
                          </a:solidFill>
                          <a:latin typeface="Inter" pitchFamily="34" charset="0"/>
                          <a:ea typeface="Inter" pitchFamily="34" charset="-122"/>
                          <a:cs typeface="Inter" pitchFamily="34" charset="-120"/>
                        </a:rPr>
                        <a:t>Contains pod, container, image, environment variables information</a:t>
                      </a:r>
                      <a:endParaRPr lang="en-US" sz="12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24242"/>
                    </a:solidFill>
                  </a:tcPr>
                </a:tc>
              </a:tr>
              <a:tr h="495300">
                <a:tc>
                  <a:txBody>
                    <a:bodyPr/>
                    <a:lstStyle/>
                    <a:p>
                      <a:pPr algn="l" indent="0" marL="0">
                        <a:lnSpc>
                          <a:spcPts val="1188"/>
                        </a:lnSpc>
                        <a:buNone/>
                      </a:pPr>
                      <a:r>
                        <a:rPr lang="en-US" sz="900" b="1" spc="-18" kern="0" dirty="0">
                          <a:solidFill>
                            <a:srgbClr val="FFFFFF">
                              <a:alpha val="99000"/>
                            </a:srgbClr>
                          </a:solidFill>
                          <a:latin typeface="Inter" pitchFamily="34" charset="0"/>
                          <a:ea typeface="Inter" pitchFamily="34" charset="-122"/>
                          <a:cs typeface="Inter" pitchFamily="34" charset="-120"/>
                        </a:rPr>
                        <a:t>hpa.yaml</a:t>
                      </a:r>
                      <a:endParaRPr lang="en-US" sz="12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24242"/>
                    </a:solidFill>
                  </a:tcPr>
                </a:tc>
                <a:tc>
                  <a:txBody>
                    <a:bodyPr/>
                    <a:lstStyle/>
                    <a:p>
                      <a:pPr algn="l" indent="0" marL="0">
                        <a:lnSpc>
                          <a:spcPts val="1206"/>
                        </a:lnSpc>
                        <a:buNone/>
                      </a:pPr>
                      <a:r>
                        <a:rPr lang="en-US" sz="900" spc="-5" kern="0" dirty="0">
                          <a:solidFill>
                            <a:srgbClr val="FFFFFF">
                              <a:alpha val="99000"/>
                            </a:srgbClr>
                          </a:solidFill>
                          <a:latin typeface="Inter" pitchFamily="34" charset="0"/>
                          <a:ea typeface="Inter" pitchFamily="34" charset="-122"/>
                          <a:cs typeface="Inter" pitchFamily="34" charset="-120"/>
                        </a:rPr>
                        <a:t>HorizontalPodAutoscaler</a:t>
                      </a:r>
                      <a:endParaRPr lang="en-US" sz="1200" dirty="0"/>
                    </a:p>
                    <a:p>
                      <a:pPr algn="l" indent="0" marL="0">
                        <a:lnSpc>
                          <a:spcPts val="1206"/>
                        </a:lnSpc>
                        <a:buNone/>
                      </a:pPr>
                      <a:r>
                        <a:rPr lang="en-US" sz="900" spc="-5" kern="0" dirty="0">
                          <a:solidFill>
                            <a:srgbClr val="FFFFFF">
                              <a:alpha val="99000"/>
                            </a:srgbClr>
                          </a:solidFill>
                          <a:latin typeface="Inter" pitchFamily="34" charset="0"/>
                          <a:ea typeface="Inter" pitchFamily="34" charset="-122"/>
                          <a:cs typeface="Inter" pitchFamily="34" charset="-120"/>
                        </a:rPr>
                        <a:t>Used to automatically scale pods based on demand</a:t>
                      </a:r>
                      <a:endParaRPr lang="en-US" sz="12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24242"/>
                    </a:solidFill>
                  </a:tcPr>
                </a:tc>
              </a:tr>
              <a:tr h="800100">
                <a:tc>
                  <a:txBody>
                    <a:bodyPr/>
                    <a:lstStyle/>
                    <a:p>
                      <a:pPr algn="l" indent="0" marL="0">
                        <a:lnSpc>
                          <a:spcPts val="1188"/>
                        </a:lnSpc>
                        <a:buNone/>
                      </a:pPr>
                      <a:r>
                        <a:rPr lang="en-US" sz="900" b="1" spc="-18" kern="0" dirty="0">
                          <a:solidFill>
                            <a:srgbClr val="FFFFFF">
                              <a:alpha val="99000"/>
                            </a:srgbClr>
                          </a:solidFill>
                          <a:latin typeface="Inter" pitchFamily="34" charset="0"/>
                          <a:ea typeface="Inter" pitchFamily="34" charset="-122"/>
                          <a:cs typeface="Inter" pitchFamily="34" charset="-120"/>
                        </a:rPr>
                        <a:t>knp.yaml</a:t>
                      </a:r>
                      <a:endParaRPr lang="en-US" sz="12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24242"/>
                    </a:solidFill>
                  </a:tcPr>
                </a:tc>
                <a:tc>
                  <a:txBody>
                    <a:bodyPr/>
                    <a:lstStyle/>
                    <a:p>
                      <a:pPr algn="l" indent="0" marL="0">
                        <a:lnSpc>
                          <a:spcPts val="1206"/>
                        </a:lnSpc>
                        <a:buNone/>
                      </a:pPr>
                      <a:r>
                        <a:rPr lang="en-US" sz="900" spc="-5" kern="0" dirty="0">
                          <a:solidFill>
                            <a:srgbClr val="FFFFFF">
                              <a:alpha val="99000"/>
                            </a:srgbClr>
                          </a:solidFill>
                          <a:latin typeface="Inter" pitchFamily="34" charset="0"/>
                          <a:ea typeface="Inter" pitchFamily="34" charset="-122"/>
                          <a:cs typeface="Inter" pitchFamily="34" charset="-120"/>
                        </a:rPr>
                        <a:t>Kubernetes NetworkPolicy</a:t>
                      </a:r>
                      <a:endParaRPr lang="en-US" sz="1200" dirty="0"/>
                    </a:p>
                    <a:p>
                      <a:pPr algn="l" indent="0" marL="0">
                        <a:lnSpc>
                          <a:spcPts val="1206"/>
                        </a:lnSpc>
                        <a:buNone/>
                      </a:pPr>
                      <a:r>
                        <a:rPr lang="en-US" sz="900" spc="-5" kern="0" dirty="0">
                          <a:solidFill>
                            <a:srgbClr val="FFFFFF">
                              <a:alpha val="99000"/>
                            </a:srgbClr>
                          </a:solidFill>
                          <a:latin typeface="Inter" pitchFamily="34" charset="0"/>
                          <a:ea typeface="Inter" pitchFamily="34" charset="-122"/>
                          <a:cs typeface="Inter" pitchFamily="34" charset="-120"/>
                        </a:rPr>
                        <a:t>Defines a network policy</a:t>
                      </a:r>
                      <a:endParaRPr lang="en-US" sz="1200" dirty="0"/>
                    </a:p>
                    <a:p>
                      <a:pPr algn="l" indent="0" marL="0">
                        <a:lnSpc>
                          <a:spcPts val="1206"/>
                        </a:lnSpc>
                        <a:buNone/>
                      </a:pPr>
                      <a:r>
                        <a:rPr lang="en-US" sz="900" spc="-5" kern="0" dirty="0">
                          <a:solidFill>
                            <a:srgbClr val="FFFFFF">
                              <a:alpha val="99000"/>
                            </a:srgbClr>
                          </a:solidFill>
                          <a:latin typeface="Inter" pitchFamily="34" charset="0"/>
                          <a:ea typeface="Inter" pitchFamily="34" charset="-122"/>
                          <a:cs typeface="Inter" pitchFamily="34" charset="-120"/>
                        </a:rPr>
                        <a:t>Used to allow/disallow ingress into a pod</a:t>
                      </a:r>
                      <a:endParaRPr lang="en-US" sz="1200" dirty="0"/>
                    </a:p>
                    <a:p>
                      <a:pPr algn="l" indent="0" marL="0">
                        <a:lnSpc>
                          <a:spcPts val="1206"/>
                        </a:lnSpc>
                        <a:buNone/>
                      </a:pPr>
                      <a:r>
                        <a:rPr lang="en-US" sz="900" spc="-5" kern="0" dirty="0">
                          <a:solidFill>
                            <a:srgbClr val="FFFFFF">
                              <a:alpha val="99000"/>
                            </a:srgbClr>
                          </a:solidFill>
                          <a:latin typeface="Inter" pitchFamily="34" charset="0"/>
                          <a:ea typeface="Inter" pitchFamily="34" charset="-122"/>
                          <a:cs typeface="Inter" pitchFamily="34" charset="-120"/>
                        </a:rPr>
                        <a:t>eg: Expose a pod to the internet</a:t>
                      </a:r>
                      <a:endParaRPr lang="en-US" sz="12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24242"/>
                    </a:solidFill>
                  </a:tcPr>
                </a:tc>
              </a:tr>
              <a:tr h="342900">
                <a:tc>
                  <a:txBody>
                    <a:bodyPr/>
                    <a:lstStyle/>
                    <a:p>
                      <a:pPr algn="l" indent="0" marL="0">
                        <a:lnSpc>
                          <a:spcPts val="1188"/>
                        </a:lnSpc>
                        <a:buNone/>
                      </a:pPr>
                      <a:r>
                        <a:rPr lang="en-US" sz="900" b="1" spc="-18" kern="0" dirty="0">
                          <a:solidFill>
                            <a:srgbClr val="FFFFFF">
                              <a:alpha val="99000"/>
                            </a:srgbClr>
                          </a:solidFill>
                          <a:latin typeface="Inter" pitchFamily="34" charset="0"/>
                          <a:ea typeface="Inter" pitchFamily="34" charset="-122"/>
                          <a:cs typeface="Inter" pitchFamily="34" charset="-120"/>
                        </a:rPr>
                        <a:t>route.yaml</a:t>
                      </a:r>
                      <a:endParaRPr lang="en-US" sz="12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24242"/>
                    </a:solidFill>
                  </a:tcPr>
                </a:tc>
                <a:tc>
                  <a:txBody>
                    <a:bodyPr/>
                    <a:lstStyle/>
                    <a:p>
                      <a:pPr algn="l" indent="0" marL="0">
                        <a:lnSpc>
                          <a:spcPts val="1206"/>
                        </a:lnSpc>
                        <a:buNone/>
                      </a:pPr>
                      <a:r>
                        <a:rPr lang="en-US" sz="900" spc="-5" kern="0" dirty="0">
                          <a:solidFill>
                            <a:srgbClr val="FFFFFF">
                              <a:alpha val="99000"/>
                            </a:srgbClr>
                          </a:solidFill>
                          <a:latin typeface="Inter" pitchFamily="34" charset="0"/>
                          <a:ea typeface="Inter" pitchFamily="34" charset="-122"/>
                          <a:cs typeface="Inter" pitchFamily="34" charset="-120"/>
                        </a:rPr>
                        <a:t>Create a route with domain name</a:t>
                      </a:r>
                      <a:endParaRPr lang="en-US" sz="12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24242"/>
                    </a:solidFill>
                  </a:tcPr>
                </a:tc>
              </a:tr>
              <a:tr h="342900">
                <a:tc>
                  <a:txBody>
                    <a:bodyPr/>
                    <a:lstStyle/>
                    <a:p>
                      <a:pPr algn="l" indent="0" marL="0">
                        <a:lnSpc>
                          <a:spcPts val="1188"/>
                        </a:lnSpc>
                        <a:buNone/>
                      </a:pPr>
                      <a:r>
                        <a:rPr lang="en-US" sz="900" b="1" spc="-18" kern="0" dirty="0">
                          <a:solidFill>
                            <a:srgbClr val="FFFFFF">
                              <a:alpha val="99000"/>
                            </a:srgbClr>
                          </a:solidFill>
                          <a:latin typeface="Inter" pitchFamily="34" charset="0"/>
                          <a:ea typeface="Inter" pitchFamily="34" charset="-122"/>
                          <a:cs typeface="Inter" pitchFamily="34" charset="-120"/>
                        </a:rPr>
                        <a:t>service.yaml</a:t>
                      </a:r>
                      <a:endParaRPr lang="en-US" sz="12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24242"/>
                    </a:solidFill>
                  </a:tcPr>
                </a:tc>
                <a:tc>
                  <a:txBody>
                    <a:bodyPr/>
                    <a:lstStyle/>
                    <a:p>
                      <a:pPr algn="l" indent="0" marL="0">
                        <a:lnSpc>
                          <a:spcPts val="1206"/>
                        </a:lnSpc>
                        <a:buNone/>
                      </a:pPr>
                      <a:r>
                        <a:rPr lang="en-US" sz="900" spc="-5" kern="0" dirty="0">
                          <a:solidFill>
                            <a:srgbClr val="FFFFFF">
                              <a:alpha val="99000"/>
                            </a:srgbClr>
                          </a:solidFill>
                          <a:latin typeface="Inter" pitchFamily="34" charset="0"/>
                          <a:ea typeface="Inter" pitchFamily="34" charset="-122"/>
                          <a:cs typeface="Inter" pitchFamily="34" charset="-120"/>
                        </a:rPr>
                        <a:t>Expose a pod internally</a:t>
                      </a:r>
                      <a:endParaRPr lang="en-US" sz="12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24242"/>
                    </a:solidFill>
                  </a:tcPr>
                </a:tc>
              </a:tr>
              <a:tr h="495300">
                <a:tc>
                  <a:txBody>
                    <a:bodyPr/>
                    <a:lstStyle/>
                    <a:p>
                      <a:pPr algn="l" indent="0" marL="0">
                        <a:lnSpc>
                          <a:spcPts val="1188"/>
                        </a:lnSpc>
                        <a:buNone/>
                      </a:pPr>
                      <a:r>
                        <a:rPr lang="en-US" sz="900" b="1" spc="-18" kern="0" dirty="0">
                          <a:solidFill>
                            <a:srgbClr val="FFFFFF">
                              <a:alpha val="99000"/>
                            </a:srgbClr>
                          </a:solidFill>
                          <a:latin typeface="Inter" pitchFamily="34" charset="0"/>
                          <a:ea typeface="Inter" pitchFamily="34" charset="-122"/>
                          <a:cs typeface="Inter" pitchFamily="34" charset="-120"/>
                        </a:rPr>
                        <a:t>serviceaccount.yaml</a:t>
                      </a:r>
                      <a:endParaRPr lang="en-US" sz="12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24242"/>
                    </a:solidFill>
                  </a:tcPr>
                </a:tc>
                <a:tc>
                  <a:txBody>
                    <a:bodyPr/>
                    <a:lstStyle/>
                    <a:p>
                      <a:pPr algn="l" indent="0" marL="0">
                        <a:lnSpc>
                          <a:spcPts val="1206"/>
                        </a:lnSpc>
                        <a:buNone/>
                      </a:pPr>
                      <a:r>
                        <a:rPr lang="en-US" sz="900" spc="-5" kern="0" dirty="0">
                          <a:solidFill>
                            <a:srgbClr val="FFFFFF">
                              <a:alpha val="99000"/>
                            </a:srgbClr>
                          </a:solidFill>
                          <a:latin typeface="Inter" pitchFamily="34" charset="0"/>
                          <a:ea typeface="Inter" pitchFamily="34" charset="-122"/>
                          <a:cs typeface="Inter" pitchFamily="34" charset="-120"/>
                        </a:rPr>
                        <a:t>Define a service account for your pods</a:t>
                      </a:r>
                      <a:endParaRPr lang="en-US" sz="1200" dirty="0"/>
                    </a:p>
                    <a:p>
                      <a:pPr algn="l" indent="0" marL="0">
                        <a:lnSpc>
                          <a:spcPts val="1206"/>
                        </a:lnSpc>
                        <a:buNone/>
                      </a:pPr>
                      <a:r>
                        <a:rPr lang="en-US" sz="900" spc="-5" kern="0" dirty="0">
                          <a:solidFill>
                            <a:srgbClr val="FFFFFF">
                              <a:alpha val="99000"/>
                            </a:srgbClr>
                          </a:solidFill>
                          <a:latin typeface="Inter" pitchFamily="34" charset="0"/>
                          <a:ea typeface="Inter" pitchFamily="34" charset="-122"/>
                          <a:cs typeface="Inter" pitchFamily="34" charset="-120"/>
                        </a:rPr>
                        <a:t>Optional</a:t>
                      </a:r>
                      <a:endParaRPr lang="en-US" sz="12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24242"/>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1E1E"/>
        </a:solidFill>
      </p:bgPr>
    </p:bg>
    <p:spTree>
      <p:nvGrpSpPr>
        <p:cNvPr id="1" name=""/>
        <p:cNvGrpSpPr/>
        <p:nvPr/>
      </p:nvGrpSpPr>
      <p:grpSpPr>
        <a:xfrm>
          <a:off x="0" y="0"/>
          <a:ext cx="0" cy="0"/>
          <a:chOff x="0" y="0"/>
          <a:chExt cx="0" cy="0"/>
        </a:xfrm>
      </p:grpSpPr>
      <p:sp>
        <p:nvSpPr>
          <p:cNvPr id="3" name="Shape 0"/>
          <p:cNvSpPr/>
          <p:nvPr/>
        </p:nvSpPr>
        <p:spPr>
          <a:xfrm>
            <a:off x="4610100" y="2433638"/>
            <a:ext cx="3238500" cy="1828800"/>
          </a:xfrm>
          <a:prstGeom prst="rect">
            <a:avLst/>
          </a:prstGeom>
          <a:noFill/>
          <a:ln/>
        </p:spPr>
      </p:sp>
      <p:sp>
        <p:nvSpPr>
          <p:cNvPr id="4" name="Text 1"/>
          <p:cNvSpPr/>
          <p:nvPr/>
        </p:nvSpPr>
        <p:spPr>
          <a:xfrm>
            <a:off x="609600" y="2433638"/>
            <a:ext cx="31242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Template files</a:t>
            </a:r>
            <a:endParaRPr lang="en-US" sz="1800" dirty="0"/>
          </a:p>
        </p:txBody>
      </p:sp>
      <p:sp>
        <p:nvSpPr>
          <p:cNvPr id="5" name="Text 2"/>
          <p:cNvSpPr/>
          <p:nvPr/>
        </p:nvSpPr>
        <p:spPr>
          <a:xfrm>
            <a:off x="4610100" y="2433638"/>
            <a:ext cx="3695700" cy="228600"/>
          </a:xfrm>
          <a:prstGeom prst="rect">
            <a:avLst/>
          </a:prstGeom>
          <a:noFill/>
          <a:ln/>
        </p:spPr>
        <p:txBody>
          <a:bodyPr wrap="square" rtlCol="0" anchor="ctr"/>
          <a:lstStyle/>
          <a:p>
            <a:pPr algn="l" indent="0" marL="0">
              <a:lnSpc>
                <a:spcPts val="1782"/>
              </a:lnSpc>
              <a:buNone/>
            </a:pPr>
            <a:r>
              <a:rPr lang="en-US" sz="1350" b="1" spc="-27" kern="0" dirty="0">
                <a:solidFill>
                  <a:srgbClr val="FFFFFF">
                    <a:alpha val="99000"/>
                  </a:srgbClr>
                </a:solidFill>
                <a:latin typeface="Inter" pitchFamily="34" charset="0"/>
                <a:ea typeface="Inter" pitchFamily="34" charset="-122"/>
                <a:cs typeface="Inter" pitchFamily="34" charset="-120"/>
              </a:rPr>
              <a:t>What is it?</a:t>
            </a:r>
            <a:endParaRPr lang="en-US" sz="1350" dirty="0"/>
          </a:p>
        </p:txBody>
      </p:sp>
      <p:sp>
        <p:nvSpPr>
          <p:cNvPr id="6" name="Text 3"/>
          <p:cNvSpPr/>
          <p:nvPr/>
        </p:nvSpPr>
        <p:spPr>
          <a:xfrm>
            <a:off x="4610100" y="2738438"/>
            <a:ext cx="3695700" cy="1524000"/>
          </a:xfrm>
          <a:prstGeom prst="rect">
            <a:avLst/>
          </a:prstGeom>
          <a:noFill/>
          <a:ln/>
        </p:spPr>
        <p:txBody>
          <a:bodyPr wrap="square" rtlCol="0" anchor="ctr"/>
          <a:lstStyle/>
          <a:p>
            <a:pPr algn="l" indent="0" marL="0">
              <a:lnSpc>
                <a:spcPts val="1206"/>
              </a:lnSpc>
              <a:buNone/>
            </a:pPr>
            <a:r>
              <a:rPr lang="en-US" sz="900" spc="-5" kern="0" dirty="0">
                <a:solidFill>
                  <a:srgbClr val="FFFFFF">
                    <a:alpha val="99000"/>
                  </a:srgbClr>
                </a:solidFill>
                <a:latin typeface="Inter" pitchFamily="34" charset="0"/>
                <a:ea typeface="Inter" pitchFamily="34" charset="-122"/>
                <a:cs typeface="Inter" pitchFamily="34" charset="-120"/>
              </a:rPr>
              <a:t>All template files are in YAML format</a:t>
            </a:r>
            <a:endParaRPr lang="en-US" sz="900" dirty="0"/>
          </a:p>
          <a:p>
            <a:pPr algn="l" marL="342900" indent="-342900">
              <a:lnSpc>
                <a:spcPts val="1206"/>
              </a:lnSpc>
              <a:buSzPct val="100000"/>
              <a:buChar char="•"/>
            </a:pPr>
            <a:r>
              <a:rPr lang="en-US" sz="900" spc="-5" kern="0" dirty="0">
                <a:solidFill>
                  <a:srgbClr val="FFFFFF">
                    <a:alpha val="99000"/>
                  </a:srgbClr>
                </a:solidFill>
                <a:latin typeface="Inter" pitchFamily="34" charset="0"/>
                <a:ea typeface="Inter" pitchFamily="34" charset="-122"/>
                <a:cs typeface="Inter" pitchFamily="34" charset="-120"/>
              </a:rPr>
              <a:t>They are templates used to generate the YAML files used in openshift</a:t>
            </a:r>
            <a:endParaRPr lang="en-US" sz="900" dirty="0"/>
          </a:p>
          <a:p>
            <a:pPr algn="l" marL="342900" indent="-342900">
              <a:lnSpc>
                <a:spcPts val="1206"/>
              </a:lnSpc>
              <a:buSzPct val="100000"/>
              <a:buChar char="•"/>
            </a:pPr>
            <a:r>
              <a:rPr lang="en-US" sz="900" spc="-5" kern="0" dirty="0">
                <a:solidFill>
                  <a:srgbClr val="FFFFFF">
                    <a:alpha val="99000"/>
                  </a:srgbClr>
                </a:solidFill>
                <a:latin typeface="Inter" pitchFamily="34" charset="0"/>
                <a:ea typeface="Inter" pitchFamily="34" charset="-122"/>
                <a:cs typeface="Inter" pitchFamily="34" charset="-120"/>
              </a:rPr>
              <a:t>They will look very similar, but the value in the key:value pair is defined differently</a:t>
            </a:r>
            <a:endParaRPr lang="en-US" sz="900" dirty="0"/>
          </a:p>
          <a:p>
            <a:pPr algn="l" marL="342900" indent="-342900">
              <a:lnSpc>
                <a:spcPts val="1206"/>
              </a:lnSpc>
              <a:buSzPct val="100000"/>
              <a:buChar char="•"/>
            </a:pPr>
            <a:r>
              <a:rPr lang="en-US" sz="900" spc="-5" kern="0" dirty="0">
                <a:solidFill>
                  <a:srgbClr val="FFFFFF">
                    <a:alpha val="99000"/>
                  </a:srgbClr>
                </a:solidFill>
                <a:latin typeface="Inter" pitchFamily="34" charset="0"/>
                <a:ea typeface="Inter" pitchFamily="34" charset="-122"/>
                <a:cs typeface="Inter" pitchFamily="34" charset="-120"/>
              </a:rPr>
              <a:t>Values are defined in values.yaml and then refenced in all the other yamls.</a:t>
            </a:r>
            <a:endParaRPr lang="en-US" sz="900" dirty="0"/>
          </a:p>
          <a:p>
            <a:pPr algn="l" marL="342900" indent="-342900">
              <a:lnSpc>
                <a:spcPts val="1206"/>
              </a:lnSpc>
              <a:buSzPct val="100000"/>
              <a:buChar char="•"/>
            </a:pPr>
            <a:r>
              <a:rPr lang="en-US" sz="900" spc="-5" kern="0" dirty="0">
                <a:solidFill>
                  <a:srgbClr val="FFFFFF">
                    <a:alpha val="99000"/>
                  </a:srgbClr>
                </a:solidFill>
                <a:latin typeface="Inter" pitchFamily="34" charset="0"/>
                <a:ea typeface="Inter" pitchFamily="34" charset="-122"/>
                <a:cs typeface="Inter" pitchFamily="34" charset="-120"/>
              </a:rPr>
              <a:t>  </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1E1E"/>
        </a:solidFill>
      </p:bgPr>
    </p:bg>
    <p:spTree>
      <p:nvGrpSpPr>
        <p:cNvPr id="1" name=""/>
        <p:cNvGrpSpPr/>
        <p:nvPr/>
      </p:nvGrpSpPr>
      <p:grpSpPr>
        <a:xfrm>
          <a:off x="0" y="0"/>
          <a:ext cx="0" cy="0"/>
          <a:chOff x="0" y="0"/>
          <a:chExt cx="0" cy="0"/>
        </a:xfrm>
      </p:grpSpPr>
      <p:sp>
        <p:nvSpPr>
          <p:cNvPr id="3" name="Shape 0"/>
          <p:cNvSpPr/>
          <p:nvPr/>
        </p:nvSpPr>
        <p:spPr>
          <a:xfrm>
            <a:off x="4610100" y="2433638"/>
            <a:ext cx="3238500" cy="457200"/>
          </a:xfrm>
          <a:prstGeom prst="rect">
            <a:avLst/>
          </a:prstGeom>
          <a:noFill/>
          <a:ln/>
        </p:spPr>
      </p:sp>
      <p:sp>
        <p:nvSpPr>
          <p:cNvPr id="4" name="Text 1"/>
          <p:cNvSpPr/>
          <p:nvPr/>
        </p:nvSpPr>
        <p:spPr>
          <a:xfrm>
            <a:off x="609600" y="2433638"/>
            <a:ext cx="31242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Deployment.yaml</a:t>
            </a:r>
            <a:endParaRPr lang="en-US" sz="1800" dirty="0"/>
          </a:p>
        </p:txBody>
      </p:sp>
      <p:sp>
        <p:nvSpPr>
          <p:cNvPr id="5" name="Text 2"/>
          <p:cNvSpPr/>
          <p:nvPr/>
        </p:nvSpPr>
        <p:spPr>
          <a:xfrm>
            <a:off x="4610100" y="2433638"/>
            <a:ext cx="3695700" cy="457200"/>
          </a:xfrm>
          <a:prstGeom prst="rect">
            <a:avLst/>
          </a:prstGeom>
          <a:noFill/>
          <a:ln/>
        </p:spPr>
        <p:txBody>
          <a:bodyPr wrap="square" rtlCol="0" anchor="ctr"/>
          <a:lstStyle/>
          <a:p>
            <a:pPr algn="l" indent="0" marL="0">
              <a:lnSpc>
                <a:spcPts val="1206"/>
              </a:lnSpc>
              <a:buNone/>
            </a:pPr>
            <a:r>
              <a:rPr lang="en-US" sz="900" spc="-5" kern="0" dirty="0">
                <a:solidFill>
                  <a:srgbClr val="FFFFFF">
                    <a:alpha val="99000"/>
                  </a:srgbClr>
                </a:solidFill>
                <a:latin typeface="Inter" pitchFamily="34" charset="0"/>
                <a:ea typeface="Inter" pitchFamily="34" charset="-122"/>
                <a:cs typeface="Inter" pitchFamily="34" charset="-120"/>
              </a:rPr>
              <a:t>We will use deployment.yaml as a specific example to see how a helm chart is built. </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1E1E"/>
        </a:solidFill>
      </p:bgPr>
    </p:bg>
    <p:spTree>
      <p:nvGrpSpPr>
        <p:cNvPr id="1" name=""/>
        <p:cNvGrpSpPr/>
        <p:nvPr/>
      </p:nvGrpSpPr>
      <p:grpSpPr>
        <a:xfrm>
          <a:off x="0" y="0"/>
          <a:ext cx="0" cy="0"/>
          <a:chOff x="0" y="0"/>
          <a:chExt cx="0" cy="0"/>
        </a:xfrm>
      </p:grpSpPr>
      <p:sp>
        <p:nvSpPr>
          <p:cNvPr id="3" name="Shape 0"/>
          <p:cNvSpPr/>
          <p:nvPr/>
        </p:nvSpPr>
        <p:spPr>
          <a:xfrm>
            <a:off x="4610100" y="2433638"/>
            <a:ext cx="3238500" cy="914400"/>
          </a:xfrm>
          <a:prstGeom prst="rect">
            <a:avLst/>
          </a:prstGeom>
          <a:noFill/>
          <a:ln/>
        </p:spPr>
      </p:sp>
      <p:pic>
        <p:nvPicPr>
          <p:cNvPr id="4" name="Image 0" descr="preencoded.png">    </p:cNvPr>
          <p:cNvPicPr>
            <a:picLocks noChangeAspect="1"/>
          </p:cNvPicPr>
          <p:nvPr/>
        </p:nvPicPr>
        <p:blipFill>
          <a:blip r:embed="rId1"/>
          <a:stretch>
            <a:fillRect/>
          </a:stretch>
        </p:blipFill>
        <p:spPr>
          <a:xfrm>
            <a:off x="1123950" y="3438525"/>
            <a:ext cx="5843588" cy="1219200"/>
          </a:xfrm>
          <a:prstGeom prst="rect">
            <a:avLst/>
          </a:prstGeom>
        </p:spPr>
      </p:pic>
      <p:sp>
        <p:nvSpPr>
          <p:cNvPr id="5" name="Text 1"/>
          <p:cNvSpPr/>
          <p:nvPr/>
        </p:nvSpPr>
        <p:spPr>
          <a:xfrm>
            <a:off x="609600" y="2433638"/>
            <a:ext cx="31242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Basic references</a:t>
            </a:r>
            <a:endParaRPr lang="en-US" sz="1800" dirty="0"/>
          </a:p>
        </p:txBody>
      </p:sp>
      <p:sp>
        <p:nvSpPr>
          <p:cNvPr id="6" name="Text 2"/>
          <p:cNvSpPr/>
          <p:nvPr/>
        </p:nvSpPr>
        <p:spPr>
          <a:xfrm>
            <a:off x="4610100" y="2433638"/>
            <a:ext cx="3695700" cy="914400"/>
          </a:xfrm>
          <a:prstGeom prst="rect">
            <a:avLst/>
          </a:prstGeom>
          <a:noFill/>
          <a:ln/>
        </p:spPr>
        <p:txBody>
          <a:bodyPr wrap="square" rtlCol="0" anchor="ctr"/>
          <a:lstStyle/>
          <a:p>
            <a:pPr algn="l" indent="0" marL="0">
              <a:lnSpc>
                <a:spcPts val="1206"/>
              </a:lnSpc>
              <a:buNone/>
            </a:pPr>
            <a:r>
              <a:rPr lang="en-US" sz="900" spc="-5" kern="0" dirty="0">
                <a:solidFill>
                  <a:srgbClr val="FFFFFF">
                    <a:alpha val="99000"/>
                  </a:srgbClr>
                </a:solidFill>
                <a:latin typeface="Inter" pitchFamily="34" charset="0"/>
                <a:ea typeface="Inter" pitchFamily="34" charset="-122"/>
                <a:cs typeface="Inter" pitchFamily="34" charset="-120"/>
              </a:rPr>
              <a:t>When referencing a value in the values.yml, You use a dot notation like this:</a:t>
            </a:r>
            <a:endParaRPr lang="en-US" sz="900" dirty="0"/>
          </a:p>
          <a:p>
            <a:pPr algn="l" indent="0" marL="0">
              <a:lnSpc>
                <a:spcPts val="1206"/>
              </a:lnSpc>
              <a:buNone/>
            </a:pPr>
            <a:r>
              <a:rPr lang="en-US" sz="900" spc="-5" kern="0" dirty="0">
                <a:solidFill>
                  <a:srgbClr val="FFFFFF">
                    <a:alpha val="99000"/>
                  </a:srgbClr>
                </a:solidFill>
                <a:latin typeface="Inter" pitchFamily="34" charset="0"/>
                <a:ea typeface="Inter" pitchFamily="34" charset="-122"/>
                <a:cs typeface="Inter" pitchFamily="34" charset="-120"/>
              </a:rPr>
              <a:t>imagePullPolicy: {{ .Values.image.pullPolicy }}</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1E1E"/>
        </a:solidFill>
      </p:bgPr>
    </p:bg>
    <p:spTree>
      <p:nvGrpSpPr>
        <p:cNvPr id="1" name=""/>
        <p:cNvGrpSpPr/>
        <p:nvPr/>
      </p:nvGrpSpPr>
      <p:grpSpPr>
        <a:xfrm>
          <a:off x="0" y="0"/>
          <a:ext cx="0" cy="0"/>
          <a:chOff x="0" y="0"/>
          <a:chExt cx="0" cy="0"/>
        </a:xfrm>
      </p:grpSpPr>
      <p:sp>
        <p:nvSpPr>
          <p:cNvPr id="3" name="Shape 0"/>
          <p:cNvSpPr/>
          <p:nvPr/>
        </p:nvSpPr>
        <p:spPr>
          <a:xfrm>
            <a:off x="4610100" y="2433638"/>
            <a:ext cx="3238500" cy="609600"/>
          </a:xfrm>
          <a:prstGeom prst="rect">
            <a:avLst/>
          </a:prstGeom>
          <a:noFill/>
          <a:ln/>
        </p:spPr>
      </p:sp>
      <p:pic>
        <p:nvPicPr>
          <p:cNvPr id="4" name="Image 0" descr="preencoded.png">    </p:cNvPr>
          <p:cNvPicPr>
            <a:picLocks noChangeAspect="1"/>
          </p:cNvPicPr>
          <p:nvPr/>
        </p:nvPicPr>
        <p:blipFill>
          <a:blip r:embed="rId1"/>
          <a:stretch>
            <a:fillRect/>
          </a:stretch>
        </p:blipFill>
        <p:spPr>
          <a:xfrm>
            <a:off x="609600" y="3433763"/>
            <a:ext cx="7924800" cy="1097808"/>
          </a:xfrm>
          <a:prstGeom prst="rect">
            <a:avLst/>
          </a:prstGeom>
        </p:spPr>
      </p:pic>
      <p:sp>
        <p:nvSpPr>
          <p:cNvPr id="5" name="Text 1"/>
          <p:cNvSpPr/>
          <p:nvPr/>
        </p:nvSpPr>
        <p:spPr>
          <a:xfrm>
            <a:off x="609600" y="2433638"/>
            <a:ext cx="31242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Concatenation</a:t>
            </a:r>
            <a:endParaRPr lang="en-US" sz="1800" dirty="0"/>
          </a:p>
        </p:txBody>
      </p:sp>
      <p:sp>
        <p:nvSpPr>
          <p:cNvPr id="6" name="Text 2"/>
          <p:cNvSpPr/>
          <p:nvPr/>
        </p:nvSpPr>
        <p:spPr>
          <a:xfrm>
            <a:off x="4610100" y="2433638"/>
            <a:ext cx="3695700" cy="609600"/>
          </a:xfrm>
          <a:prstGeom prst="rect">
            <a:avLst/>
          </a:prstGeom>
          <a:noFill/>
          <a:ln/>
        </p:spPr>
        <p:txBody>
          <a:bodyPr wrap="square" rtlCol="0" anchor="ctr"/>
          <a:lstStyle/>
          <a:p>
            <a:pPr algn="l" indent="0" marL="0">
              <a:lnSpc>
                <a:spcPts val="1206"/>
              </a:lnSpc>
              <a:buNone/>
            </a:pPr>
            <a:r>
              <a:rPr lang="en-US" sz="900" spc="-5" kern="0" dirty="0">
                <a:solidFill>
                  <a:srgbClr val="FFFFFF">
                    <a:alpha val="99000"/>
                  </a:srgbClr>
                </a:solidFill>
                <a:latin typeface="Inter" pitchFamily="34" charset="0"/>
                <a:ea typeface="Inter" pitchFamily="34" charset="-122"/>
                <a:cs typeface="Inter" pitchFamily="34" charset="-120"/>
              </a:rPr>
              <a:t>You can also concatenate values to build things like URLs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1E1E"/>
        </a:solidFill>
      </p:bgPr>
    </p:bg>
    <p:spTree>
      <p:nvGrpSpPr>
        <p:cNvPr id="1" name=""/>
        <p:cNvGrpSpPr/>
        <p:nvPr/>
      </p:nvGrpSpPr>
      <p:grpSpPr>
        <a:xfrm>
          <a:off x="0" y="0"/>
          <a:ext cx="0" cy="0"/>
          <a:chOff x="0" y="0"/>
          <a:chExt cx="0" cy="0"/>
        </a:xfrm>
      </p:grpSpPr>
      <p:sp>
        <p:nvSpPr>
          <p:cNvPr id="3" name="Shape 0"/>
          <p:cNvSpPr/>
          <p:nvPr/>
        </p:nvSpPr>
        <p:spPr>
          <a:xfrm>
            <a:off x="4610100" y="2433638"/>
            <a:ext cx="3238500" cy="304800"/>
          </a:xfrm>
          <a:prstGeom prst="rect">
            <a:avLst/>
          </a:prstGeom>
          <a:noFill/>
          <a:ln/>
        </p:spPr>
      </p:sp>
      <p:pic>
        <p:nvPicPr>
          <p:cNvPr id="4" name="Image 0" descr="preencoded.png">    </p:cNvPr>
          <p:cNvPicPr>
            <a:picLocks noChangeAspect="1"/>
          </p:cNvPicPr>
          <p:nvPr/>
        </p:nvPicPr>
        <p:blipFill>
          <a:blip r:embed="rId1"/>
          <a:stretch>
            <a:fillRect/>
          </a:stretch>
        </p:blipFill>
        <p:spPr>
          <a:xfrm>
            <a:off x="1519238" y="3433763"/>
            <a:ext cx="6105525" cy="1519238"/>
          </a:xfrm>
          <a:prstGeom prst="rect">
            <a:avLst/>
          </a:prstGeom>
        </p:spPr>
      </p:pic>
      <p:sp>
        <p:nvSpPr>
          <p:cNvPr id="5" name="Text 1"/>
          <p:cNvSpPr/>
          <p:nvPr/>
        </p:nvSpPr>
        <p:spPr>
          <a:xfrm>
            <a:off x="609600" y="2433638"/>
            <a:ext cx="31242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Conditional Blocks</a:t>
            </a:r>
            <a:endParaRPr lang="en-US" sz="1800" dirty="0"/>
          </a:p>
        </p:txBody>
      </p:sp>
      <p:sp>
        <p:nvSpPr>
          <p:cNvPr id="6" name="Text 2"/>
          <p:cNvSpPr/>
          <p:nvPr/>
        </p:nvSpPr>
        <p:spPr>
          <a:xfrm>
            <a:off x="4610100" y="2433638"/>
            <a:ext cx="3695700" cy="304800"/>
          </a:xfrm>
          <a:prstGeom prst="rect">
            <a:avLst/>
          </a:prstGeom>
          <a:noFill/>
          <a:ln/>
        </p:spPr>
        <p:txBody>
          <a:bodyPr wrap="square" rtlCol="0" anchor="ctr"/>
          <a:lstStyle/>
          <a:p>
            <a:pPr algn="l" indent="0" marL="0">
              <a:lnSpc>
                <a:spcPts val="1206"/>
              </a:lnSpc>
              <a:buNone/>
            </a:pPr>
            <a:r>
              <a:rPr lang="en-US" sz="900" spc="-5" kern="0" dirty="0">
                <a:solidFill>
                  <a:srgbClr val="FFFFFF">
                    <a:alpha val="99000"/>
                  </a:srgbClr>
                </a:solidFill>
                <a:latin typeface="Inter" pitchFamily="34" charset="0"/>
                <a:ea typeface="Inter" pitchFamily="34" charset="-122"/>
                <a:cs typeface="Inter" pitchFamily="34" charset="-120"/>
              </a:rPr>
              <a:t>Conditional blocks allow deployment.yaml to populate optional sections only if they are present in the values.yaml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1E1E"/>
        </a:solidFill>
      </p:bgPr>
    </p:bg>
    <p:spTree>
      <p:nvGrpSpPr>
        <p:cNvPr id="1" name=""/>
        <p:cNvGrpSpPr/>
        <p:nvPr/>
      </p:nvGrpSpPr>
      <p:grpSpPr>
        <a:xfrm>
          <a:off x="0" y="0"/>
          <a:ext cx="0" cy="0"/>
          <a:chOff x="0" y="0"/>
          <a:chExt cx="0" cy="0"/>
        </a:xfrm>
      </p:grpSpPr>
      <p:sp>
        <p:nvSpPr>
          <p:cNvPr id="3" name="Shape 0"/>
          <p:cNvSpPr/>
          <p:nvPr/>
        </p:nvSpPr>
        <p:spPr>
          <a:xfrm>
            <a:off x="4610100" y="2433638"/>
            <a:ext cx="3238500" cy="304800"/>
          </a:xfrm>
          <a:prstGeom prst="rect">
            <a:avLst/>
          </a:prstGeom>
          <a:noFill/>
          <a:ln/>
        </p:spPr>
      </p:sp>
      <p:sp>
        <p:nvSpPr>
          <p:cNvPr id="4" name="Shape 1"/>
          <p:cNvSpPr/>
          <p:nvPr/>
        </p:nvSpPr>
        <p:spPr>
          <a:xfrm>
            <a:off x="4610100" y="2433638"/>
            <a:ext cx="3238500" cy="304800"/>
          </a:xfrm>
          <a:prstGeom prst="rect">
            <a:avLst/>
          </a:prstGeom>
          <a:noFill/>
          <a:ln/>
        </p:spPr>
      </p:sp>
      <p:sp>
        <p:nvSpPr>
          <p:cNvPr id="5" name="Shape 2"/>
          <p:cNvSpPr/>
          <p:nvPr/>
        </p:nvSpPr>
        <p:spPr>
          <a:xfrm>
            <a:off x="4610100" y="2433638"/>
            <a:ext cx="3238500" cy="304800"/>
          </a:xfrm>
          <a:prstGeom prst="rect">
            <a:avLst/>
          </a:prstGeom>
          <a:noFill/>
          <a:ln/>
        </p:spPr>
      </p:sp>
      <p:pic>
        <p:nvPicPr>
          <p:cNvPr id="6" name="Image 0" descr="preencoded.png">    </p:cNvPr>
          <p:cNvPicPr>
            <a:picLocks noChangeAspect="1"/>
          </p:cNvPicPr>
          <p:nvPr/>
        </p:nvPicPr>
        <p:blipFill>
          <a:blip r:embed="rId1"/>
          <a:stretch>
            <a:fillRect/>
          </a:stretch>
        </p:blipFill>
        <p:spPr>
          <a:xfrm>
            <a:off x="1514475" y="3400425"/>
            <a:ext cx="6115050" cy="1328738"/>
          </a:xfrm>
          <a:prstGeom prst="rect">
            <a:avLst/>
          </a:prstGeom>
        </p:spPr>
      </p:pic>
      <p:sp>
        <p:nvSpPr>
          <p:cNvPr id="7" name="Text 3"/>
          <p:cNvSpPr/>
          <p:nvPr/>
        </p:nvSpPr>
        <p:spPr>
          <a:xfrm>
            <a:off x="609600" y="2433638"/>
            <a:ext cx="31242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Conditional Blocks</a:t>
            </a:r>
            <a:endParaRPr lang="en-US" sz="1800" dirty="0"/>
          </a:p>
        </p:txBody>
      </p:sp>
      <p:sp>
        <p:nvSpPr>
          <p:cNvPr id="8" name="Text 4"/>
          <p:cNvSpPr/>
          <p:nvPr/>
        </p:nvSpPr>
        <p:spPr>
          <a:xfrm>
            <a:off x="4610100" y="2433638"/>
            <a:ext cx="3695700" cy="304800"/>
          </a:xfrm>
          <a:prstGeom prst="rect">
            <a:avLst/>
          </a:prstGeom>
          <a:noFill/>
          <a:ln/>
        </p:spPr>
        <p:txBody>
          <a:bodyPr wrap="square" rtlCol="0" anchor="ctr"/>
          <a:lstStyle/>
          <a:p>
            <a:pPr algn="l" indent="0" marL="0">
              <a:lnSpc>
                <a:spcPts val="1206"/>
              </a:lnSpc>
              <a:buNone/>
            </a:pPr>
            <a:r>
              <a:rPr lang="en-US" sz="900" spc="-5" kern="0" dirty="0">
                <a:solidFill>
                  <a:srgbClr val="FFFFFF">
                    <a:alpha val="99000"/>
                  </a:srgbClr>
                </a:solidFill>
                <a:latin typeface="Inter" pitchFamily="34" charset="0"/>
                <a:ea typeface="Inter" pitchFamily="34" charset="-122"/>
                <a:cs typeface="Inter" pitchFamily="34" charset="-120"/>
              </a:rPr>
              <a:t>Another conditional evaluates the content of the value to populate a section.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1E1E"/>
        </a:solidFill>
      </p:bgPr>
    </p:bg>
    <p:spTree>
      <p:nvGrpSpPr>
        <p:cNvPr id="1" name=""/>
        <p:cNvGrpSpPr/>
        <p:nvPr/>
      </p:nvGrpSpPr>
      <p:grpSpPr>
        <a:xfrm>
          <a:off x="0" y="0"/>
          <a:ext cx="0" cy="0"/>
          <a:chOff x="0" y="0"/>
          <a:chExt cx="0" cy="0"/>
        </a:xfrm>
      </p:grpSpPr>
      <p:sp>
        <p:nvSpPr>
          <p:cNvPr id="3" name="Shape 0"/>
          <p:cNvSpPr/>
          <p:nvPr/>
        </p:nvSpPr>
        <p:spPr>
          <a:xfrm>
            <a:off x="4610100" y="2433638"/>
            <a:ext cx="3238500" cy="609600"/>
          </a:xfrm>
          <a:prstGeom prst="rect">
            <a:avLst/>
          </a:prstGeom>
          <a:noFill/>
          <a:ln/>
        </p:spPr>
      </p:sp>
      <p:sp>
        <p:nvSpPr>
          <p:cNvPr id="4" name="Shape 1"/>
          <p:cNvSpPr/>
          <p:nvPr/>
        </p:nvSpPr>
        <p:spPr>
          <a:xfrm>
            <a:off x="4610100" y="2433638"/>
            <a:ext cx="3238500" cy="609600"/>
          </a:xfrm>
          <a:prstGeom prst="rect">
            <a:avLst/>
          </a:prstGeom>
          <a:noFill/>
          <a:ln/>
        </p:spPr>
      </p:sp>
      <p:sp>
        <p:nvSpPr>
          <p:cNvPr id="5" name="Shape 2"/>
          <p:cNvSpPr/>
          <p:nvPr/>
        </p:nvSpPr>
        <p:spPr>
          <a:xfrm>
            <a:off x="4610100" y="2433638"/>
            <a:ext cx="3238500" cy="609600"/>
          </a:xfrm>
          <a:prstGeom prst="rect">
            <a:avLst/>
          </a:prstGeom>
          <a:noFill/>
          <a:ln/>
        </p:spPr>
      </p:sp>
      <p:pic>
        <p:nvPicPr>
          <p:cNvPr id="6" name="Image 0" descr="preencoded.png">    </p:cNvPr>
          <p:cNvPicPr>
            <a:picLocks noChangeAspect="1"/>
          </p:cNvPicPr>
          <p:nvPr/>
        </p:nvPicPr>
        <p:blipFill>
          <a:blip r:embed="rId1"/>
          <a:stretch>
            <a:fillRect/>
          </a:stretch>
        </p:blipFill>
        <p:spPr>
          <a:xfrm>
            <a:off x="914400" y="3286125"/>
            <a:ext cx="7310438" cy="1500188"/>
          </a:xfrm>
          <a:prstGeom prst="rect">
            <a:avLst/>
          </a:prstGeom>
        </p:spPr>
      </p:pic>
      <p:sp>
        <p:nvSpPr>
          <p:cNvPr id="7" name="Text 3"/>
          <p:cNvSpPr/>
          <p:nvPr/>
        </p:nvSpPr>
        <p:spPr>
          <a:xfrm>
            <a:off x="609600" y="2433638"/>
            <a:ext cx="31242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Helper functions</a:t>
            </a:r>
            <a:endParaRPr lang="en-US" sz="1800" dirty="0"/>
          </a:p>
        </p:txBody>
      </p:sp>
      <p:sp>
        <p:nvSpPr>
          <p:cNvPr id="8" name="Text 4"/>
          <p:cNvSpPr/>
          <p:nvPr/>
        </p:nvSpPr>
        <p:spPr>
          <a:xfrm>
            <a:off x="4610100" y="2433638"/>
            <a:ext cx="3695700" cy="609600"/>
          </a:xfrm>
          <a:prstGeom prst="rect">
            <a:avLst/>
          </a:prstGeom>
          <a:noFill/>
          <a:ln/>
        </p:spPr>
        <p:txBody>
          <a:bodyPr wrap="square" rtlCol="0" anchor="ctr"/>
          <a:lstStyle/>
          <a:p>
            <a:pPr algn="l" indent="0" marL="0">
              <a:lnSpc>
                <a:spcPts val="1206"/>
              </a:lnSpc>
              <a:buNone/>
            </a:pPr>
            <a:r>
              <a:rPr lang="en-US" sz="900" spc="-5" kern="0" dirty="0">
                <a:solidFill>
                  <a:srgbClr val="FFFFFF">
                    <a:alpha val="99000"/>
                  </a:srgbClr>
                </a:solidFill>
                <a:latin typeface="Inter" pitchFamily="34" charset="0"/>
                <a:ea typeface="Inter" pitchFamily="34" charset="-122"/>
                <a:cs typeface="Inter" pitchFamily="34" charset="-120"/>
              </a:rPr>
              <a:t>Values can also be derived from functions defined in _helpers.tpl.</a:t>
            </a:r>
            <a:endParaRPr lang="en-US" sz="900" dirty="0"/>
          </a:p>
          <a:p>
            <a:pPr algn="l" marL="342900" indent="-342900">
              <a:lnSpc>
                <a:spcPts val="1206"/>
              </a:lnSpc>
              <a:buSzPct val="100000"/>
              <a:buChar char="•"/>
            </a:pPr>
            <a:r>
              <a:rPr lang="en-US" sz="900" spc="-5" kern="0" dirty="0">
                <a:solidFill>
                  <a:srgbClr val="FFFFFF">
                    <a:alpha val="99000"/>
                  </a:srgbClr>
                </a:solidFill>
                <a:latin typeface="Inter" pitchFamily="34" charset="0"/>
                <a:ea typeface="Inter" pitchFamily="34" charset="-122"/>
                <a:cs typeface="Inter" pitchFamily="34" charset="-120"/>
              </a:rPr>
              <a:t>Helps to abstract away more complex variable setting </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1E1E"/>
        </a:solidFill>
      </p:bgPr>
    </p:bg>
    <p:spTree>
      <p:nvGrpSpPr>
        <p:cNvPr id="1" name=""/>
        <p:cNvGrpSpPr/>
        <p:nvPr/>
      </p:nvGrpSpPr>
      <p:grpSpPr>
        <a:xfrm>
          <a:off x="0" y="0"/>
          <a:ext cx="0" cy="0"/>
          <a:chOff x="0" y="0"/>
          <a:chExt cx="0" cy="0"/>
        </a:xfrm>
      </p:grpSpPr>
      <p:sp>
        <p:nvSpPr>
          <p:cNvPr id="3" name="Shape 0"/>
          <p:cNvSpPr/>
          <p:nvPr/>
        </p:nvSpPr>
        <p:spPr>
          <a:xfrm>
            <a:off x="4610100" y="2433638"/>
            <a:ext cx="3238500" cy="152400"/>
          </a:xfrm>
          <a:prstGeom prst="rect">
            <a:avLst/>
          </a:prstGeom>
          <a:noFill/>
          <a:ln/>
        </p:spPr>
      </p:sp>
      <p:sp>
        <p:nvSpPr>
          <p:cNvPr id="4" name="Shape 1"/>
          <p:cNvSpPr/>
          <p:nvPr/>
        </p:nvSpPr>
        <p:spPr>
          <a:xfrm>
            <a:off x="4610100" y="2433638"/>
            <a:ext cx="3238500" cy="152400"/>
          </a:xfrm>
          <a:prstGeom prst="rect">
            <a:avLst/>
          </a:prstGeom>
          <a:noFill/>
          <a:ln/>
        </p:spPr>
      </p:sp>
      <p:pic>
        <p:nvPicPr>
          <p:cNvPr id="5" name="Image 0" descr="preencoded.png">    </p:cNvPr>
          <p:cNvPicPr>
            <a:picLocks noChangeAspect="1"/>
          </p:cNvPicPr>
          <p:nvPr/>
        </p:nvPicPr>
        <p:blipFill>
          <a:blip r:embed="rId1"/>
          <a:stretch>
            <a:fillRect/>
          </a:stretch>
        </p:blipFill>
        <p:spPr>
          <a:xfrm>
            <a:off x="4610100" y="2433638"/>
            <a:ext cx="3238500" cy="152400"/>
          </a:xfrm>
          <a:prstGeom prst="rect">
            <a:avLst/>
          </a:prstGeom>
        </p:spPr>
      </p:pic>
      <p:sp>
        <p:nvSpPr>
          <p:cNvPr id="6" name="Text 2"/>
          <p:cNvSpPr/>
          <p:nvPr/>
        </p:nvSpPr>
        <p:spPr>
          <a:xfrm>
            <a:off x="609600" y="2433638"/>
            <a:ext cx="31242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Important sections</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1E1E"/>
        </a:solidFill>
      </p:bgPr>
    </p:bg>
    <p:spTree>
      <p:nvGrpSpPr>
        <p:cNvPr id="1" name=""/>
        <p:cNvGrpSpPr/>
        <p:nvPr/>
      </p:nvGrpSpPr>
      <p:grpSpPr>
        <a:xfrm>
          <a:off x="0" y="0"/>
          <a:ext cx="0" cy="0"/>
          <a:chOff x="0" y="0"/>
          <a:chExt cx="0" cy="0"/>
        </a:xfrm>
      </p:grpSpPr>
      <p:sp>
        <p:nvSpPr>
          <p:cNvPr id="3" name="Shape 0"/>
          <p:cNvSpPr/>
          <p:nvPr/>
        </p:nvSpPr>
        <p:spPr>
          <a:xfrm>
            <a:off x="4610100" y="2433638"/>
            <a:ext cx="3238500" cy="152400"/>
          </a:xfrm>
          <a:prstGeom prst="rect">
            <a:avLst/>
          </a:prstGeom>
          <a:noFill/>
          <a:ln/>
        </p:spPr>
      </p:sp>
      <p:sp>
        <p:nvSpPr>
          <p:cNvPr id="4" name="Text 1"/>
          <p:cNvSpPr/>
          <p:nvPr/>
        </p:nvSpPr>
        <p:spPr>
          <a:xfrm>
            <a:off x="3609975" y="2652713"/>
            <a:ext cx="1362075" cy="352425"/>
          </a:xfrm>
          <a:prstGeom prst="roundRect">
            <a:avLst>
              <a:gd name="adj" fmla="val 41514"/>
            </a:avLst>
          </a:prstGeom>
          <a:noFill/>
          <a:ln w="50800">
            <a:solidFill>
              <a:srgbClr val="E03E1A"/>
            </a:solidFill>
          </a:ln>
        </p:spPr>
        <p:txBody>
          <a:bodyPr wrap="square" rtlCol="0" anchor="ctr"/>
          <a:lstStyle/>
          <a:p>
            <a:pPr indent="0" marL="0">
              <a:buNone/>
            </a:pPr>
            <a:endParaRPr lang="en-US" dirty="0"/>
          </a:p>
        </p:txBody>
      </p:sp>
      <p:sp>
        <p:nvSpPr>
          <p:cNvPr id="5" name="Shape 2"/>
          <p:cNvSpPr/>
          <p:nvPr/>
        </p:nvSpPr>
        <p:spPr>
          <a:xfrm>
            <a:off x="4610100" y="2433638"/>
            <a:ext cx="3238500" cy="152400"/>
          </a:xfrm>
          <a:prstGeom prst="rect">
            <a:avLst/>
          </a:prstGeom>
          <a:noFill/>
          <a:ln/>
        </p:spPr>
      </p:sp>
      <p:pic>
        <p:nvPicPr>
          <p:cNvPr id="6" name="Image 0" descr="preencoded.png">    </p:cNvPr>
          <p:cNvPicPr>
            <a:picLocks noChangeAspect="1"/>
          </p:cNvPicPr>
          <p:nvPr/>
        </p:nvPicPr>
        <p:blipFill>
          <a:blip r:embed="rId1"/>
          <a:stretch>
            <a:fillRect/>
          </a:stretch>
        </p:blipFill>
        <p:spPr>
          <a:xfrm>
            <a:off x="3271838" y="2571750"/>
            <a:ext cx="5872163" cy="2571750"/>
          </a:xfrm>
          <a:prstGeom prst="rect">
            <a:avLst/>
          </a:prstGeom>
        </p:spPr>
      </p:pic>
      <p:pic>
        <p:nvPicPr>
          <p:cNvPr id="7" name="Image 1" descr="preencoded.png">    </p:cNvPr>
          <p:cNvPicPr>
            <a:picLocks noChangeAspect="1"/>
          </p:cNvPicPr>
          <p:nvPr/>
        </p:nvPicPr>
        <p:blipFill>
          <a:blip r:embed="rId2"/>
          <a:stretch>
            <a:fillRect/>
          </a:stretch>
        </p:blipFill>
        <p:spPr>
          <a:xfrm>
            <a:off x="4610100" y="2433638"/>
            <a:ext cx="3238500" cy="152400"/>
          </a:xfrm>
          <a:prstGeom prst="rect">
            <a:avLst/>
          </a:prstGeom>
        </p:spPr>
      </p:pic>
      <p:sp>
        <p:nvSpPr>
          <p:cNvPr id="8" name="Text 3"/>
          <p:cNvSpPr/>
          <p:nvPr/>
        </p:nvSpPr>
        <p:spPr>
          <a:xfrm>
            <a:off x="609600" y="2433638"/>
            <a:ext cx="31242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Important sections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1E1E"/>
        </a:solidFill>
      </p:bgPr>
    </p:bg>
    <p:spTree>
      <p:nvGrpSpPr>
        <p:cNvPr id="1" name=""/>
        <p:cNvGrpSpPr/>
        <p:nvPr/>
      </p:nvGrpSpPr>
      <p:grpSpPr>
        <a:xfrm>
          <a:off x="0" y="0"/>
          <a:ext cx="0" cy="0"/>
          <a:chOff x="0" y="0"/>
          <a:chExt cx="0" cy="0"/>
        </a:xfrm>
      </p:grpSpPr>
      <p:sp>
        <p:nvSpPr>
          <p:cNvPr id="3" name="Shape 0"/>
          <p:cNvSpPr/>
          <p:nvPr/>
        </p:nvSpPr>
        <p:spPr>
          <a:xfrm>
            <a:off x="4610100" y="2433638"/>
            <a:ext cx="3238500" cy="152400"/>
          </a:xfrm>
          <a:prstGeom prst="rect">
            <a:avLst/>
          </a:prstGeom>
          <a:noFill/>
          <a:ln/>
        </p:spPr>
      </p:sp>
      <p:sp>
        <p:nvSpPr>
          <p:cNvPr id="4" name="Text 1"/>
          <p:cNvSpPr/>
          <p:nvPr/>
        </p:nvSpPr>
        <p:spPr>
          <a:xfrm>
            <a:off x="3609975" y="2652713"/>
            <a:ext cx="2619375" cy="581025"/>
          </a:xfrm>
          <a:prstGeom prst="roundRect">
            <a:avLst>
              <a:gd name="adj" fmla="val 25180"/>
            </a:avLst>
          </a:prstGeom>
          <a:noFill/>
          <a:ln w="50800">
            <a:solidFill>
              <a:srgbClr val="E03E1A"/>
            </a:solidFill>
          </a:ln>
        </p:spPr>
        <p:txBody>
          <a:bodyPr wrap="square" rtlCol="0" anchor="ctr"/>
          <a:lstStyle/>
          <a:p>
            <a:pPr indent="0" marL="0">
              <a:buNone/>
            </a:pPr>
            <a:endParaRPr lang="en-US" dirty="0"/>
          </a:p>
        </p:txBody>
      </p:sp>
      <p:sp>
        <p:nvSpPr>
          <p:cNvPr id="5" name="Shape 2"/>
          <p:cNvSpPr/>
          <p:nvPr/>
        </p:nvSpPr>
        <p:spPr>
          <a:xfrm>
            <a:off x="4610100" y="2433638"/>
            <a:ext cx="3238500" cy="152400"/>
          </a:xfrm>
          <a:prstGeom prst="rect">
            <a:avLst/>
          </a:prstGeom>
          <a:noFill/>
          <a:ln/>
        </p:spPr>
      </p:sp>
      <p:pic>
        <p:nvPicPr>
          <p:cNvPr id="6" name="Image 0" descr="preencoded.png">    </p:cNvPr>
          <p:cNvPicPr>
            <a:picLocks noChangeAspect="1"/>
          </p:cNvPicPr>
          <p:nvPr/>
        </p:nvPicPr>
        <p:blipFill>
          <a:blip r:embed="rId1"/>
          <a:stretch>
            <a:fillRect/>
          </a:stretch>
        </p:blipFill>
        <p:spPr>
          <a:xfrm>
            <a:off x="3271838" y="2286000"/>
            <a:ext cx="5872163" cy="2857500"/>
          </a:xfrm>
          <a:prstGeom prst="rect">
            <a:avLst/>
          </a:prstGeom>
        </p:spPr>
      </p:pic>
      <p:pic>
        <p:nvPicPr>
          <p:cNvPr id="7" name="Image 1" descr="preencoded.png">    </p:cNvPr>
          <p:cNvPicPr>
            <a:picLocks noChangeAspect="1"/>
          </p:cNvPicPr>
          <p:nvPr/>
        </p:nvPicPr>
        <p:blipFill>
          <a:blip r:embed="rId2"/>
          <a:stretch>
            <a:fillRect/>
          </a:stretch>
        </p:blipFill>
        <p:spPr>
          <a:xfrm>
            <a:off x="4610100" y="2433638"/>
            <a:ext cx="3238500" cy="152400"/>
          </a:xfrm>
          <a:prstGeom prst="rect">
            <a:avLst/>
          </a:prstGeom>
        </p:spPr>
      </p:pic>
      <p:sp>
        <p:nvSpPr>
          <p:cNvPr id="8" name="Text 3"/>
          <p:cNvSpPr/>
          <p:nvPr/>
        </p:nvSpPr>
        <p:spPr>
          <a:xfrm>
            <a:off x="609600" y="2433638"/>
            <a:ext cx="31242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Important sections</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1E1E"/>
        </a:solidFill>
      </p:bgPr>
    </p:bg>
    <p:spTree>
      <p:nvGrpSpPr>
        <p:cNvPr id="1" name=""/>
        <p:cNvGrpSpPr/>
        <p:nvPr/>
      </p:nvGrpSpPr>
      <p:grpSpPr>
        <a:xfrm>
          <a:off x="0" y="0"/>
          <a:ext cx="0" cy="0"/>
          <a:chOff x="0" y="0"/>
          <a:chExt cx="0" cy="0"/>
        </a:xfrm>
      </p:grpSpPr>
      <p:sp>
        <p:nvSpPr>
          <p:cNvPr id="3" name="Shape 0"/>
          <p:cNvSpPr/>
          <p:nvPr/>
        </p:nvSpPr>
        <p:spPr>
          <a:xfrm>
            <a:off x="4610100" y="2433638"/>
            <a:ext cx="3238500" cy="152400"/>
          </a:xfrm>
          <a:prstGeom prst="rect">
            <a:avLst/>
          </a:prstGeom>
          <a:noFill/>
          <a:ln/>
        </p:spPr>
      </p:sp>
      <p:sp>
        <p:nvSpPr>
          <p:cNvPr id="4" name="Text 1"/>
          <p:cNvSpPr/>
          <p:nvPr/>
        </p:nvSpPr>
        <p:spPr>
          <a:xfrm>
            <a:off x="3609975" y="2652713"/>
            <a:ext cx="2843213" cy="161925"/>
          </a:xfrm>
          <a:prstGeom prst="roundRect">
            <a:avLst>
              <a:gd name="adj" fmla="val 90353"/>
            </a:avLst>
          </a:prstGeom>
          <a:noFill/>
          <a:ln w="50800">
            <a:solidFill>
              <a:srgbClr val="E03E1A"/>
            </a:solidFill>
          </a:ln>
        </p:spPr>
        <p:txBody>
          <a:bodyPr wrap="square" rtlCol="0" anchor="ctr"/>
          <a:lstStyle/>
          <a:p>
            <a:pPr indent="0" marL="0">
              <a:buNone/>
            </a:pPr>
            <a:endParaRPr lang="en-US" dirty="0"/>
          </a:p>
        </p:txBody>
      </p:sp>
      <p:sp>
        <p:nvSpPr>
          <p:cNvPr id="5" name="Shape 2"/>
          <p:cNvSpPr/>
          <p:nvPr/>
        </p:nvSpPr>
        <p:spPr>
          <a:xfrm>
            <a:off x="4610100" y="2433638"/>
            <a:ext cx="3238500" cy="152400"/>
          </a:xfrm>
          <a:prstGeom prst="rect">
            <a:avLst/>
          </a:prstGeom>
          <a:noFill/>
          <a:ln/>
        </p:spPr>
      </p:sp>
      <p:pic>
        <p:nvPicPr>
          <p:cNvPr id="6" name="Image 0" descr="preencoded.png">    </p:cNvPr>
          <p:cNvPicPr>
            <a:picLocks noChangeAspect="1"/>
          </p:cNvPicPr>
          <p:nvPr/>
        </p:nvPicPr>
        <p:blipFill>
          <a:blip r:embed="rId1"/>
          <a:stretch>
            <a:fillRect/>
          </a:stretch>
        </p:blipFill>
        <p:spPr>
          <a:xfrm>
            <a:off x="3271838" y="1762125"/>
            <a:ext cx="5872163" cy="3381375"/>
          </a:xfrm>
          <a:prstGeom prst="rect">
            <a:avLst/>
          </a:prstGeom>
        </p:spPr>
      </p:pic>
      <p:pic>
        <p:nvPicPr>
          <p:cNvPr id="7" name="Image 1" descr="preencoded.png">    </p:cNvPr>
          <p:cNvPicPr>
            <a:picLocks noChangeAspect="1"/>
          </p:cNvPicPr>
          <p:nvPr/>
        </p:nvPicPr>
        <p:blipFill>
          <a:blip r:embed="rId2"/>
          <a:stretch>
            <a:fillRect/>
          </a:stretch>
        </p:blipFill>
        <p:spPr>
          <a:xfrm>
            <a:off x="4610100" y="2433638"/>
            <a:ext cx="3238500" cy="152400"/>
          </a:xfrm>
          <a:prstGeom prst="rect">
            <a:avLst/>
          </a:prstGeom>
        </p:spPr>
      </p:pic>
      <p:sp>
        <p:nvSpPr>
          <p:cNvPr id="8" name="Text 3"/>
          <p:cNvSpPr/>
          <p:nvPr/>
        </p:nvSpPr>
        <p:spPr>
          <a:xfrm>
            <a:off x="609600" y="2433638"/>
            <a:ext cx="31242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Important sections</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1E1E"/>
        </a:solidFill>
      </p:bgPr>
    </p:bg>
    <p:spTree>
      <p:nvGrpSpPr>
        <p:cNvPr id="1" name=""/>
        <p:cNvGrpSpPr/>
        <p:nvPr/>
      </p:nvGrpSpPr>
      <p:grpSpPr>
        <a:xfrm>
          <a:off x="0" y="0"/>
          <a:ext cx="0" cy="0"/>
          <a:chOff x="0" y="0"/>
          <a:chExt cx="0" cy="0"/>
        </a:xfrm>
      </p:grpSpPr>
      <p:sp>
        <p:nvSpPr>
          <p:cNvPr id="3" name="Shape 0"/>
          <p:cNvSpPr/>
          <p:nvPr/>
        </p:nvSpPr>
        <p:spPr>
          <a:xfrm>
            <a:off x="4610100" y="2433638"/>
            <a:ext cx="3238500" cy="152400"/>
          </a:xfrm>
          <a:prstGeom prst="rect">
            <a:avLst/>
          </a:prstGeom>
          <a:noFill/>
          <a:ln/>
        </p:spPr>
      </p:sp>
      <p:sp>
        <p:nvSpPr>
          <p:cNvPr id="4" name="Text 1"/>
          <p:cNvSpPr/>
          <p:nvPr/>
        </p:nvSpPr>
        <p:spPr>
          <a:xfrm>
            <a:off x="3609975" y="2652713"/>
            <a:ext cx="3186113" cy="785813"/>
          </a:xfrm>
          <a:prstGeom prst="roundRect">
            <a:avLst>
              <a:gd name="adj" fmla="val 18618"/>
            </a:avLst>
          </a:prstGeom>
          <a:noFill/>
          <a:ln w="50800">
            <a:solidFill>
              <a:srgbClr val="E03E1A"/>
            </a:solidFill>
          </a:ln>
        </p:spPr>
        <p:txBody>
          <a:bodyPr wrap="square" rtlCol="0" anchor="ctr"/>
          <a:lstStyle/>
          <a:p>
            <a:pPr indent="0" marL="0">
              <a:buNone/>
            </a:pPr>
            <a:endParaRPr lang="en-US" dirty="0"/>
          </a:p>
        </p:txBody>
      </p:sp>
      <p:sp>
        <p:nvSpPr>
          <p:cNvPr id="5" name="Shape 2"/>
          <p:cNvSpPr/>
          <p:nvPr/>
        </p:nvSpPr>
        <p:spPr>
          <a:xfrm>
            <a:off x="4610100" y="2433638"/>
            <a:ext cx="3238500" cy="152400"/>
          </a:xfrm>
          <a:prstGeom prst="rect">
            <a:avLst/>
          </a:prstGeom>
          <a:noFill/>
          <a:ln/>
        </p:spPr>
      </p:sp>
      <p:pic>
        <p:nvPicPr>
          <p:cNvPr id="6" name="Image 0" descr="preencoded.png">    </p:cNvPr>
          <p:cNvPicPr>
            <a:picLocks noChangeAspect="1"/>
          </p:cNvPicPr>
          <p:nvPr/>
        </p:nvPicPr>
        <p:blipFill>
          <a:blip r:embed="rId1"/>
          <a:stretch>
            <a:fillRect/>
          </a:stretch>
        </p:blipFill>
        <p:spPr>
          <a:xfrm>
            <a:off x="3271838" y="1619250"/>
            <a:ext cx="5872163" cy="3524250"/>
          </a:xfrm>
          <a:prstGeom prst="rect">
            <a:avLst/>
          </a:prstGeom>
        </p:spPr>
      </p:pic>
      <p:pic>
        <p:nvPicPr>
          <p:cNvPr id="7" name="Image 1" descr="preencoded.png">    </p:cNvPr>
          <p:cNvPicPr>
            <a:picLocks noChangeAspect="1"/>
          </p:cNvPicPr>
          <p:nvPr/>
        </p:nvPicPr>
        <p:blipFill>
          <a:blip r:embed="rId2"/>
          <a:stretch>
            <a:fillRect/>
          </a:stretch>
        </p:blipFill>
        <p:spPr>
          <a:xfrm>
            <a:off x="4610100" y="2433638"/>
            <a:ext cx="3238500" cy="152400"/>
          </a:xfrm>
          <a:prstGeom prst="rect">
            <a:avLst/>
          </a:prstGeom>
        </p:spPr>
      </p:pic>
      <p:sp>
        <p:nvSpPr>
          <p:cNvPr id="8" name="Text 3"/>
          <p:cNvSpPr/>
          <p:nvPr/>
        </p:nvSpPr>
        <p:spPr>
          <a:xfrm>
            <a:off x="609600" y="2433638"/>
            <a:ext cx="31242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Important sections</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1E1E"/>
        </a:solidFill>
      </p:bgPr>
    </p:bg>
    <p:spTree>
      <p:nvGrpSpPr>
        <p:cNvPr id="1" name=""/>
        <p:cNvGrpSpPr/>
        <p:nvPr/>
      </p:nvGrpSpPr>
      <p:grpSpPr>
        <a:xfrm>
          <a:off x="0" y="0"/>
          <a:ext cx="0" cy="0"/>
          <a:chOff x="0" y="0"/>
          <a:chExt cx="0" cy="0"/>
        </a:xfrm>
      </p:grpSpPr>
      <p:sp>
        <p:nvSpPr>
          <p:cNvPr id="3" name="Shape 0"/>
          <p:cNvSpPr/>
          <p:nvPr/>
        </p:nvSpPr>
        <p:spPr>
          <a:xfrm>
            <a:off x="4610100" y="2433638"/>
            <a:ext cx="3238500" cy="152400"/>
          </a:xfrm>
          <a:prstGeom prst="rect">
            <a:avLst/>
          </a:prstGeom>
          <a:noFill/>
          <a:ln/>
        </p:spPr>
      </p:sp>
      <p:sp>
        <p:nvSpPr>
          <p:cNvPr id="4" name="Text 1"/>
          <p:cNvSpPr/>
          <p:nvPr/>
        </p:nvSpPr>
        <p:spPr>
          <a:xfrm>
            <a:off x="3609975" y="2652713"/>
            <a:ext cx="3186113" cy="1381125"/>
          </a:xfrm>
          <a:prstGeom prst="roundRect">
            <a:avLst>
              <a:gd name="adj" fmla="val 10593"/>
            </a:avLst>
          </a:prstGeom>
          <a:noFill/>
          <a:ln w="50800">
            <a:solidFill>
              <a:srgbClr val="E03E1A"/>
            </a:solidFill>
          </a:ln>
        </p:spPr>
        <p:txBody>
          <a:bodyPr wrap="square" rtlCol="0" anchor="ctr"/>
          <a:lstStyle/>
          <a:p>
            <a:pPr indent="0" marL="0">
              <a:buNone/>
            </a:pPr>
            <a:endParaRPr lang="en-US" dirty="0"/>
          </a:p>
        </p:txBody>
      </p:sp>
      <p:sp>
        <p:nvSpPr>
          <p:cNvPr id="5" name="Shape 2"/>
          <p:cNvSpPr/>
          <p:nvPr/>
        </p:nvSpPr>
        <p:spPr>
          <a:xfrm>
            <a:off x="4610100" y="2433638"/>
            <a:ext cx="3238500" cy="152400"/>
          </a:xfrm>
          <a:prstGeom prst="rect">
            <a:avLst/>
          </a:prstGeom>
          <a:noFill/>
          <a:ln/>
        </p:spPr>
      </p:sp>
      <p:pic>
        <p:nvPicPr>
          <p:cNvPr id="6" name="Image 0" descr="preencoded.png">    </p:cNvPr>
          <p:cNvPicPr>
            <a:picLocks noChangeAspect="1"/>
          </p:cNvPicPr>
          <p:nvPr/>
        </p:nvPicPr>
        <p:blipFill>
          <a:blip r:embed="rId1"/>
          <a:stretch>
            <a:fillRect/>
          </a:stretch>
        </p:blipFill>
        <p:spPr>
          <a:xfrm>
            <a:off x="3271838" y="857250"/>
            <a:ext cx="5872163" cy="4286250"/>
          </a:xfrm>
          <a:prstGeom prst="rect">
            <a:avLst/>
          </a:prstGeom>
        </p:spPr>
      </p:pic>
      <p:pic>
        <p:nvPicPr>
          <p:cNvPr id="7" name="Image 1" descr="preencoded.png">    </p:cNvPr>
          <p:cNvPicPr>
            <a:picLocks noChangeAspect="1"/>
          </p:cNvPicPr>
          <p:nvPr/>
        </p:nvPicPr>
        <p:blipFill>
          <a:blip r:embed="rId2"/>
          <a:stretch>
            <a:fillRect/>
          </a:stretch>
        </p:blipFill>
        <p:spPr>
          <a:xfrm>
            <a:off x="4610100" y="2433638"/>
            <a:ext cx="3238500" cy="152400"/>
          </a:xfrm>
          <a:prstGeom prst="rect">
            <a:avLst/>
          </a:prstGeom>
        </p:spPr>
      </p:pic>
      <p:sp>
        <p:nvSpPr>
          <p:cNvPr id="8" name="Text 3"/>
          <p:cNvSpPr/>
          <p:nvPr/>
        </p:nvSpPr>
        <p:spPr>
          <a:xfrm>
            <a:off x="609600" y="2433638"/>
            <a:ext cx="31242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Important sections</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1E1E"/>
        </a:solidFill>
      </p:bgPr>
    </p:bg>
    <p:spTree>
      <p:nvGrpSpPr>
        <p:cNvPr id="1" name=""/>
        <p:cNvGrpSpPr/>
        <p:nvPr/>
      </p:nvGrpSpPr>
      <p:grpSpPr>
        <a:xfrm>
          <a:off x="0" y="0"/>
          <a:ext cx="0" cy="0"/>
          <a:chOff x="0" y="0"/>
          <a:chExt cx="0" cy="0"/>
        </a:xfrm>
      </p:grpSpPr>
      <p:sp>
        <p:nvSpPr>
          <p:cNvPr id="3" name="Shape 0"/>
          <p:cNvSpPr/>
          <p:nvPr/>
        </p:nvSpPr>
        <p:spPr>
          <a:xfrm>
            <a:off x="4610100" y="2433638"/>
            <a:ext cx="3238500" cy="152400"/>
          </a:xfrm>
          <a:prstGeom prst="rect">
            <a:avLst/>
          </a:prstGeom>
          <a:noFill/>
          <a:ln/>
        </p:spPr>
      </p:sp>
      <p:sp>
        <p:nvSpPr>
          <p:cNvPr id="4" name="Text 1"/>
          <p:cNvSpPr/>
          <p:nvPr/>
        </p:nvSpPr>
        <p:spPr>
          <a:xfrm>
            <a:off x="3609975" y="2652713"/>
            <a:ext cx="3800475" cy="1266825"/>
          </a:xfrm>
          <a:prstGeom prst="roundRect">
            <a:avLst>
              <a:gd name="adj" fmla="val 11549"/>
            </a:avLst>
          </a:prstGeom>
          <a:noFill/>
          <a:ln w="50800">
            <a:solidFill>
              <a:srgbClr val="E03E1A"/>
            </a:solidFill>
          </a:ln>
        </p:spPr>
        <p:txBody>
          <a:bodyPr wrap="square" rtlCol="0" anchor="ctr"/>
          <a:lstStyle/>
          <a:p>
            <a:pPr indent="0" marL="0">
              <a:buNone/>
            </a:pPr>
            <a:endParaRPr lang="en-US" dirty="0"/>
          </a:p>
        </p:txBody>
      </p:sp>
      <p:sp>
        <p:nvSpPr>
          <p:cNvPr id="5" name="Shape 2"/>
          <p:cNvSpPr/>
          <p:nvPr/>
        </p:nvSpPr>
        <p:spPr>
          <a:xfrm>
            <a:off x="4610100" y="2433638"/>
            <a:ext cx="3238500" cy="152400"/>
          </a:xfrm>
          <a:prstGeom prst="rect">
            <a:avLst/>
          </a:prstGeom>
          <a:noFill/>
          <a:ln/>
        </p:spPr>
      </p:sp>
      <p:pic>
        <p:nvPicPr>
          <p:cNvPr id="6" name="Image 0" descr="preencoded.png">    </p:cNvPr>
          <p:cNvPicPr>
            <a:picLocks noChangeAspect="1"/>
          </p:cNvPicPr>
          <p:nvPr/>
        </p:nvPicPr>
        <p:blipFill>
          <a:blip r:embed="rId1"/>
          <a:stretch>
            <a:fillRect/>
          </a:stretch>
        </p:blipFill>
        <p:spPr>
          <a:xfrm>
            <a:off x="3271838" y="-523875"/>
            <a:ext cx="5872163" cy="5143500"/>
          </a:xfrm>
          <a:prstGeom prst="rect">
            <a:avLst/>
          </a:prstGeom>
        </p:spPr>
      </p:pic>
      <p:pic>
        <p:nvPicPr>
          <p:cNvPr id="7" name="Image 1" descr="preencoded.png">    </p:cNvPr>
          <p:cNvPicPr>
            <a:picLocks noChangeAspect="1"/>
          </p:cNvPicPr>
          <p:nvPr/>
        </p:nvPicPr>
        <p:blipFill>
          <a:blip r:embed="rId2"/>
          <a:stretch>
            <a:fillRect/>
          </a:stretch>
        </p:blipFill>
        <p:spPr>
          <a:xfrm>
            <a:off x="4610100" y="2433638"/>
            <a:ext cx="3238500" cy="152400"/>
          </a:xfrm>
          <a:prstGeom prst="rect">
            <a:avLst/>
          </a:prstGeom>
        </p:spPr>
      </p:pic>
      <p:sp>
        <p:nvSpPr>
          <p:cNvPr id="8" name="Text 3"/>
          <p:cNvSpPr/>
          <p:nvPr/>
        </p:nvSpPr>
        <p:spPr>
          <a:xfrm>
            <a:off x="609600" y="2433638"/>
            <a:ext cx="31242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Important sections</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1E1E"/>
        </a:solidFill>
      </p:bgPr>
    </p:bg>
    <p:spTree>
      <p:nvGrpSpPr>
        <p:cNvPr id="1" name=""/>
        <p:cNvGrpSpPr/>
        <p:nvPr/>
      </p:nvGrpSpPr>
      <p:grpSpPr>
        <a:xfrm>
          <a:off x="0" y="0"/>
          <a:ext cx="0" cy="0"/>
          <a:chOff x="0" y="0"/>
          <a:chExt cx="0" cy="0"/>
        </a:xfrm>
      </p:grpSpPr>
      <p:sp>
        <p:nvSpPr>
          <p:cNvPr id="3" name="Shape 0"/>
          <p:cNvSpPr/>
          <p:nvPr/>
        </p:nvSpPr>
        <p:spPr>
          <a:xfrm>
            <a:off x="4610100" y="2433638"/>
            <a:ext cx="3238500" cy="152400"/>
          </a:xfrm>
          <a:prstGeom prst="rect">
            <a:avLst/>
          </a:prstGeom>
          <a:noFill/>
          <a:ln/>
        </p:spPr>
      </p:sp>
      <p:sp>
        <p:nvSpPr>
          <p:cNvPr id="4" name="Text 1"/>
          <p:cNvSpPr/>
          <p:nvPr/>
        </p:nvSpPr>
        <p:spPr>
          <a:xfrm>
            <a:off x="3609975" y="2652713"/>
            <a:ext cx="5372100" cy="3186113"/>
          </a:xfrm>
          <a:prstGeom prst="roundRect">
            <a:avLst>
              <a:gd name="adj" fmla="val 4592"/>
            </a:avLst>
          </a:prstGeom>
          <a:noFill/>
          <a:ln w="50800">
            <a:solidFill>
              <a:srgbClr val="E03E1A"/>
            </a:solidFill>
          </a:ln>
        </p:spPr>
        <p:txBody>
          <a:bodyPr wrap="square" rtlCol="0" anchor="ctr"/>
          <a:lstStyle/>
          <a:p>
            <a:pPr indent="0" marL="0">
              <a:buNone/>
            </a:pPr>
            <a:endParaRPr lang="en-US" dirty="0"/>
          </a:p>
        </p:txBody>
      </p:sp>
      <p:sp>
        <p:nvSpPr>
          <p:cNvPr id="5" name="Shape 2"/>
          <p:cNvSpPr/>
          <p:nvPr/>
        </p:nvSpPr>
        <p:spPr>
          <a:xfrm>
            <a:off x="4610100" y="2433638"/>
            <a:ext cx="3238500" cy="152400"/>
          </a:xfrm>
          <a:prstGeom prst="rect">
            <a:avLst/>
          </a:prstGeom>
          <a:noFill/>
          <a:ln/>
        </p:spPr>
      </p:sp>
      <p:pic>
        <p:nvPicPr>
          <p:cNvPr id="6" name="Image 0" descr="preencoded.png">    </p:cNvPr>
          <p:cNvPicPr>
            <a:picLocks noChangeAspect="1"/>
          </p:cNvPicPr>
          <p:nvPr/>
        </p:nvPicPr>
        <p:blipFill>
          <a:blip r:embed="rId1"/>
          <a:stretch>
            <a:fillRect/>
          </a:stretch>
        </p:blipFill>
        <p:spPr>
          <a:xfrm>
            <a:off x="3271838" y="-1762125"/>
            <a:ext cx="5872163" cy="5143500"/>
          </a:xfrm>
          <a:prstGeom prst="rect">
            <a:avLst/>
          </a:prstGeom>
        </p:spPr>
      </p:pic>
      <p:pic>
        <p:nvPicPr>
          <p:cNvPr id="7" name="Image 1" descr="preencoded.png">    </p:cNvPr>
          <p:cNvPicPr>
            <a:picLocks noChangeAspect="1"/>
          </p:cNvPicPr>
          <p:nvPr/>
        </p:nvPicPr>
        <p:blipFill>
          <a:blip r:embed="rId2"/>
          <a:stretch>
            <a:fillRect/>
          </a:stretch>
        </p:blipFill>
        <p:spPr>
          <a:xfrm>
            <a:off x="4610100" y="2433638"/>
            <a:ext cx="3238500" cy="152400"/>
          </a:xfrm>
          <a:prstGeom prst="rect">
            <a:avLst/>
          </a:prstGeom>
        </p:spPr>
      </p:pic>
      <p:sp>
        <p:nvSpPr>
          <p:cNvPr id="8" name="Text 3"/>
          <p:cNvSpPr/>
          <p:nvPr/>
        </p:nvSpPr>
        <p:spPr>
          <a:xfrm>
            <a:off x="609600" y="2433638"/>
            <a:ext cx="31242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Important sections</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1E1E"/>
        </a:solidFill>
      </p:bgPr>
    </p:bg>
    <p:spTree>
      <p:nvGrpSpPr>
        <p:cNvPr id="1" name=""/>
        <p:cNvGrpSpPr/>
        <p:nvPr/>
      </p:nvGrpSpPr>
      <p:grpSpPr>
        <a:xfrm>
          <a:off x="0" y="0"/>
          <a:ext cx="0" cy="0"/>
          <a:chOff x="0" y="0"/>
          <a:chExt cx="0" cy="0"/>
        </a:xfrm>
      </p:grpSpPr>
      <p:sp>
        <p:nvSpPr>
          <p:cNvPr id="3" name="Shape 0"/>
          <p:cNvSpPr/>
          <p:nvPr/>
        </p:nvSpPr>
        <p:spPr>
          <a:xfrm>
            <a:off x="4610100" y="2433638"/>
            <a:ext cx="3238500" cy="152400"/>
          </a:xfrm>
          <a:prstGeom prst="rect">
            <a:avLst/>
          </a:prstGeom>
          <a:noFill/>
          <a:ln/>
        </p:spPr>
      </p:sp>
      <p:sp>
        <p:nvSpPr>
          <p:cNvPr id="4" name="Text 1"/>
          <p:cNvSpPr/>
          <p:nvPr/>
        </p:nvSpPr>
        <p:spPr>
          <a:xfrm>
            <a:off x="3609975" y="3409950"/>
            <a:ext cx="5534025" cy="261937"/>
          </a:xfrm>
          <a:prstGeom prst="roundRect">
            <a:avLst>
              <a:gd name="adj" fmla="val 55855"/>
            </a:avLst>
          </a:prstGeom>
          <a:noFill/>
          <a:ln w="50800">
            <a:solidFill>
              <a:srgbClr val="E03E1A"/>
            </a:solidFill>
          </a:ln>
        </p:spPr>
        <p:txBody>
          <a:bodyPr wrap="square" rtlCol="0" anchor="ctr"/>
          <a:lstStyle/>
          <a:p>
            <a:pPr indent="0" marL="0">
              <a:buNone/>
            </a:pPr>
            <a:endParaRPr lang="en-US" dirty="0"/>
          </a:p>
        </p:txBody>
      </p:sp>
      <p:sp>
        <p:nvSpPr>
          <p:cNvPr id="5" name="Shape 2"/>
          <p:cNvSpPr/>
          <p:nvPr/>
        </p:nvSpPr>
        <p:spPr>
          <a:xfrm>
            <a:off x="4610100" y="2433638"/>
            <a:ext cx="3238500" cy="152400"/>
          </a:xfrm>
          <a:prstGeom prst="rect">
            <a:avLst/>
          </a:prstGeom>
          <a:noFill/>
          <a:ln/>
        </p:spPr>
      </p:sp>
      <p:pic>
        <p:nvPicPr>
          <p:cNvPr id="6" name="Image 0" descr="preencoded.png">    </p:cNvPr>
          <p:cNvPicPr>
            <a:picLocks noChangeAspect="1"/>
          </p:cNvPicPr>
          <p:nvPr/>
        </p:nvPicPr>
        <p:blipFill>
          <a:blip r:embed="rId1"/>
          <a:stretch>
            <a:fillRect/>
          </a:stretch>
        </p:blipFill>
        <p:spPr>
          <a:xfrm>
            <a:off x="3271838" y="-1762125"/>
            <a:ext cx="5872163" cy="5143500"/>
          </a:xfrm>
          <a:prstGeom prst="rect">
            <a:avLst/>
          </a:prstGeom>
        </p:spPr>
      </p:pic>
      <p:pic>
        <p:nvPicPr>
          <p:cNvPr id="7" name="Image 1" descr="preencoded.png">    </p:cNvPr>
          <p:cNvPicPr>
            <a:picLocks noChangeAspect="1"/>
          </p:cNvPicPr>
          <p:nvPr/>
        </p:nvPicPr>
        <p:blipFill>
          <a:blip r:embed="rId2"/>
          <a:stretch>
            <a:fillRect/>
          </a:stretch>
        </p:blipFill>
        <p:spPr>
          <a:xfrm>
            <a:off x="4610100" y="2433638"/>
            <a:ext cx="3238500" cy="152400"/>
          </a:xfrm>
          <a:prstGeom prst="rect">
            <a:avLst/>
          </a:prstGeom>
        </p:spPr>
      </p:pic>
      <p:sp>
        <p:nvSpPr>
          <p:cNvPr id="8" name="Text 3"/>
          <p:cNvSpPr/>
          <p:nvPr/>
        </p:nvSpPr>
        <p:spPr>
          <a:xfrm>
            <a:off x="609600" y="2433638"/>
            <a:ext cx="31242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Important sections</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E1E1E"/>
        </a:solidFill>
      </p:bgPr>
    </p:bg>
    <p:spTree>
      <p:nvGrpSpPr>
        <p:cNvPr id="1" name=""/>
        <p:cNvGrpSpPr/>
        <p:nvPr/>
      </p:nvGrpSpPr>
      <p:grpSpPr>
        <a:xfrm>
          <a:off x="0" y="0"/>
          <a:ext cx="0" cy="0"/>
          <a:chOff x="0" y="0"/>
          <a:chExt cx="0" cy="0"/>
        </a:xfrm>
      </p:grpSpPr>
      <p:sp>
        <p:nvSpPr>
          <p:cNvPr id="3" name="Shape 0"/>
          <p:cNvSpPr/>
          <p:nvPr/>
        </p:nvSpPr>
        <p:spPr>
          <a:xfrm>
            <a:off x="4610100" y="2433638"/>
            <a:ext cx="3238500" cy="152400"/>
          </a:xfrm>
          <a:prstGeom prst="rect">
            <a:avLst/>
          </a:prstGeom>
          <a:noFill/>
          <a:ln/>
        </p:spPr>
      </p:sp>
      <p:sp>
        <p:nvSpPr>
          <p:cNvPr id="4" name="Text 1"/>
          <p:cNvSpPr/>
          <p:nvPr/>
        </p:nvSpPr>
        <p:spPr>
          <a:xfrm>
            <a:off x="3609975" y="3409950"/>
            <a:ext cx="3857625" cy="519113"/>
          </a:xfrm>
          <a:prstGeom prst="roundRect">
            <a:avLst>
              <a:gd name="adj" fmla="val 28183"/>
            </a:avLst>
          </a:prstGeom>
          <a:noFill/>
          <a:ln w="50800">
            <a:solidFill>
              <a:srgbClr val="E03E1A"/>
            </a:solidFill>
          </a:ln>
        </p:spPr>
        <p:txBody>
          <a:bodyPr wrap="square" rtlCol="0" anchor="ctr"/>
          <a:lstStyle/>
          <a:p>
            <a:pPr indent="0" marL="0">
              <a:buNone/>
            </a:pPr>
            <a:endParaRPr lang="en-US" dirty="0"/>
          </a:p>
        </p:txBody>
      </p:sp>
      <p:sp>
        <p:nvSpPr>
          <p:cNvPr id="5" name="Shape 2"/>
          <p:cNvSpPr/>
          <p:nvPr/>
        </p:nvSpPr>
        <p:spPr>
          <a:xfrm>
            <a:off x="4610100" y="2433638"/>
            <a:ext cx="3238500" cy="152400"/>
          </a:xfrm>
          <a:prstGeom prst="rect">
            <a:avLst/>
          </a:prstGeom>
          <a:noFill/>
          <a:ln/>
        </p:spPr>
      </p:sp>
      <p:pic>
        <p:nvPicPr>
          <p:cNvPr id="6" name="Image 0" descr="preencoded.png">    </p:cNvPr>
          <p:cNvPicPr>
            <a:picLocks noChangeAspect="1"/>
          </p:cNvPicPr>
          <p:nvPr/>
        </p:nvPicPr>
        <p:blipFill>
          <a:blip r:embed="rId1"/>
          <a:stretch>
            <a:fillRect/>
          </a:stretch>
        </p:blipFill>
        <p:spPr>
          <a:xfrm>
            <a:off x="3271838" y="-2028825"/>
            <a:ext cx="5872163" cy="5143500"/>
          </a:xfrm>
          <a:prstGeom prst="rect">
            <a:avLst/>
          </a:prstGeom>
        </p:spPr>
      </p:pic>
      <p:pic>
        <p:nvPicPr>
          <p:cNvPr id="7" name="Image 1" descr="preencoded.png">    </p:cNvPr>
          <p:cNvPicPr>
            <a:picLocks noChangeAspect="1"/>
          </p:cNvPicPr>
          <p:nvPr/>
        </p:nvPicPr>
        <p:blipFill>
          <a:blip r:embed="rId2"/>
          <a:stretch>
            <a:fillRect/>
          </a:stretch>
        </p:blipFill>
        <p:spPr>
          <a:xfrm>
            <a:off x="4610100" y="2433638"/>
            <a:ext cx="3238500" cy="152400"/>
          </a:xfrm>
          <a:prstGeom prst="rect">
            <a:avLst/>
          </a:prstGeom>
        </p:spPr>
      </p:pic>
      <p:sp>
        <p:nvSpPr>
          <p:cNvPr id="8" name="Text 3"/>
          <p:cNvSpPr/>
          <p:nvPr/>
        </p:nvSpPr>
        <p:spPr>
          <a:xfrm>
            <a:off x="609600" y="2433638"/>
            <a:ext cx="31242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Important sections</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1E1E"/>
        </a:solidFill>
      </p:bgPr>
    </p:bg>
    <p:spTree>
      <p:nvGrpSpPr>
        <p:cNvPr id="1" name=""/>
        <p:cNvGrpSpPr/>
        <p:nvPr/>
      </p:nvGrpSpPr>
      <p:grpSpPr>
        <a:xfrm>
          <a:off x="0" y="0"/>
          <a:ext cx="0" cy="0"/>
          <a:chOff x="0" y="0"/>
          <a:chExt cx="0" cy="0"/>
        </a:xfrm>
      </p:grpSpPr>
      <p:sp>
        <p:nvSpPr>
          <p:cNvPr id="3" name="Shape 0"/>
          <p:cNvSpPr/>
          <p:nvPr/>
        </p:nvSpPr>
        <p:spPr>
          <a:xfrm>
            <a:off x="4610100" y="2433638"/>
            <a:ext cx="3238500" cy="152400"/>
          </a:xfrm>
          <a:prstGeom prst="rect">
            <a:avLst/>
          </a:prstGeom>
          <a:noFill/>
          <a:ln/>
        </p:spPr>
      </p:sp>
      <p:sp>
        <p:nvSpPr>
          <p:cNvPr id="4" name="Text 1"/>
          <p:cNvSpPr/>
          <p:nvPr/>
        </p:nvSpPr>
        <p:spPr>
          <a:xfrm>
            <a:off x="3609975" y="3409950"/>
            <a:ext cx="3857625" cy="519113"/>
          </a:xfrm>
          <a:prstGeom prst="roundRect">
            <a:avLst>
              <a:gd name="adj" fmla="val 28183"/>
            </a:avLst>
          </a:prstGeom>
          <a:noFill/>
          <a:ln w="50800">
            <a:solidFill>
              <a:srgbClr val="E03E1A"/>
            </a:solidFill>
          </a:ln>
        </p:spPr>
        <p:txBody>
          <a:bodyPr wrap="square" rtlCol="0" anchor="ctr"/>
          <a:lstStyle/>
          <a:p>
            <a:pPr indent="0" marL="0">
              <a:buNone/>
            </a:pPr>
            <a:endParaRPr lang="en-US" dirty="0"/>
          </a:p>
        </p:txBody>
      </p:sp>
      <p:sp>
        <p:nvSpPr>
          <p:cNvPr id="5" name="Shape 2"/>
          <p:cNvSpPr/>
          <p:nvPr/>
        </p:nvSpPr>
        <p:spPr>
          <a:xfrm>
            <a:off x="4610100" y="2433638"/>
            <a:ext cx="3238500" cy="152400"/>
          </a:xfrm>
          <a:prstGeom prst="rect">
            <a:avLst/>
          </a:prstGeom>
          <a:noFill/>
          <a:ln/>
        </p:spPr>
      </p:sp>
      <p:pic>
        <p:nvPicPr>
          <p:cNvPr id="6" name="Image 0" descr="preencoded.png">    </p:cNvPr>
          <p:cNvPicPr>
            <a:picLocks noChangeAspect="1"/>
          </p:cNvPicPr>
          <p:nvPr/>
        </p:nvPicPr>
        <p:blipFill>
          <a:blip r:embed="rId1"/>
          <a:stretch>
            <a:fillRect/>
          </a:stretch>
        </p:blipFill>
        <p:spPr>
          <a:xfrm>
            <a:off x="3271838" y="-2505075"/>
            <a:ext cx="5872163" cy="5143500"/>
          </a:xfrm>
          <a:prstGeom prst="rect">
            <a:avLst/>
          </a:prstGeom>
        </p:spPr>
      </p:pic>
      <p:pic>
        <p:nvPicPr>
          <p:cNvPr id="7" name="Image 1" descr="preencoded.png">    </p:cNvPr>
          <p:cNvPicPr>
            <a:picLocks noChangeAspect="1"/>
          </p:cNvPicPr>
          <p:nvPr/>
        </p:nvPicPr>
        <p:blipFill>
          <a:blip r:embed="rId2"/>
          <a:stretch>
            <a:fillRect/>
          </a:stretch>
        </p:blipFill>
        <p:spPr>
          <a:xfrm>
            <a:off x="4610100" y="2433638"/>
            <a:ext cx="3238500" cy="152400"/>
          </a:xfrm>
          <a:prstGeom prst="rect">
            <a:avLst/>
          </a:prstGeom>
        </p:spPr>
      </p:pic>
      <p:sp>
        <p:nvSpPr>
          <p:cNvPr id="8" name="Text 3"/>
          <p:cNvSpPr/>
          <p:nvPr/>
        </p:nvSpPr>
        <p:spPr>
          <a:xfrm>
            <a:off x="609600" y="2433638"/>
            <a:ext cx="31242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Important sections</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1E1E"/>
        </a:solidFill>
      </p:bgPr>
    </p:bg>
    <p:spTree>
      <p:nvGrpSpPr>
        <p:cNvPr id="1" name=""/>
        <p:cNvGrpSpPr/>
        <p:nvPr/>
      </p:nvGrpSpPr>
      <p:grpSpPr>
        <a:xfrm>
          <a:off x="0" y="0"/>
          <a:ext cx="0" cy="0"/>
          <a:chOff x="0" y="0"/>
          <a:chExt cx="0" cy="0"/>
        </a:xfrm>
      </p:grpSpPr>
      <p:sp>
        <p:nvSpPr>
          <p:cNvPr id="3" name="Shape 0"/>
          <p:cNvSpPr/>
          <p:nvPr/>
        </p:nvSpPr>
        <p:spPr>
          <a:xfrm>
            <a:off x="4610100" y="2433638"/>
            <a:ext cx="3238500" cy="152400"/>
          </a:xfrm>
          <a:prstGeom prst="rect">
            <a:avLst/>
          </a:prstGeom>
          <a:noFill/>
          <a:ln/>
        </p:spPr>
      </p:sp>
      <p:sp>
        <p:nvSpPr>
          <p:cNvPr id="4" name="Text 1"/>
          <p:cNvSpPr/>
          <p:nvPr/>
        </p:nvSpPr>
        <p:spPr>
          <a:xfrm>
            <a:off x="3609975" y="3409950"/>
            <a:ext cx="3857625" cy="519113"/>
          </a:xfrm>
          <a:prstGeom prst="roundRect">
            <a:avLst>
              <a:gd name="adj" fmla="val 28183"/>
            </a:avLst>
          </a:prstGeom>
          <a:noFill/>
          <a:ln w="50800">
            <a:solidFill>
              <a:srgbClr val="E03E1A"/>
            </a:solidFill>
          </a:ln>
        </p:spPr>
        <p:txBody>
          <a:bodyPr wrap="square" rtlCol="0" anchor="ctr"/>
          <a:lstStyle/>
          <a:p>
            <a:pPr indent="0" marL="0">
              <a:buNone/>
            </a:pPr>
            <a:endParaRPr lang="en-US" dirty="0"/>
          </a:p>
        </p:txBody>
      </p:sp>
      <p:sp>
        <p:nvSpPr>
          <p:cNvPr id="5" name="Shape 2"/>
          <p:cNvSpPr/>
          <p:nvPr/>
        </p:nvSpPr>
        <p:spPr>
          <a:xfrm>
            <a:off x="4610100" y="2433638"/>
            <a:ext cx="3238500" cy="152400"/>
          </a:xfrm>
          <a:prstGeom prst="rect">
            <a:avLst/>
          </a:prstGeom>
          <a:noFill/>
          <a:ln/>
        </p:spPr>
      </p:sp>
      <p:pic>
        <p:nvPicPr>
          <p:cNvPr id="6" name="Image 0" descr="preencoded.png">    </p:cNvPr>
          <p:cNvPicPr>
            <a:picLocks noChangeAspect="1"/>
          </p:cNvPicPr>
          <p:nvPr/>
        </p:nvPicPr>
        <p:blipFill>
          <a:blip r:embed="rId1"/>
          <a:stretch>
            <a:fillRect/>
          </a:stretch>
        </p:blipFill>
        <p:spPr>
          <a:xfrm>
            <a:off x="3271838" y="-2505075"/>
            <a:ext cx="5872163" cy="5143500"/>
          </a:xfrm>
          <a:prstGeom prst="rect">
            <a:avLst/>
          </a:prstGeom>
        </p:spPr>
      </p:pic>
      <p:pic>
        <p:nvPicPr>
          <p:cNvPr id="7" name="Image 1" descr="preencoded.png">    </p:cNvPr>
          <p:cNvPicPr>
            <a:picLocks noChangeAspect="1"/>
          </p:cNvPicPr>
          <p:nvPr/>
        </p:nvPicPr>
        <p:blipFill>
          <a:blip r:embed="rId2"/>
          <a:stretch>
            <a:fillRect/>
          </a:stretch>
        </p:blipFill>
        <p:spPr>
          <a:xfrm>
            <a:off x="4610100" y="2433638"/>
            <a:ext cx="3238500" cy="152400"/>
          </a:xfrm>
          <a:prstGeom prst="rect">
            <a:avLst/>
          </a:prstGeom>
        </p:spPr>
      </p:pic>
      <p:sp>
        <p:nvSpPr>
          <p:cNvPr id="8" name="Text 3"/>
          <p:cNvSpPr/>
          <p:nvPr/>
        </p:nvSpPr>
        <p:spPr>
          <a:xfrm>
            <a:off x="609600" y="2433638"/>
            <a:ext cx="31242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Important sections</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E1E1E"/>
        </a:solidFill>
      </p:bgPr>
    </p:bg>
    <p:spTree>
      <p:nvGrpSpPr>
        <p:cNvPr id="1" name=""/>
        <p:cNvGrpSpPr/>
        <p:nvPr/>
      </p:nvGrpSpPr>
      <p:grpSpPr>
        <a:xfrm>
          <a:off x="0" y="0"/>
          <a:ext cx="0" cy="0"/>
          <a:chOff x="0" y="0"/>
          <a:chExt cx="0" cy="0"/>
        </a:xfrm>
      </p:grpSpPr>
      <p:sp>
        <p:nvSpPr>
          <p:cNvPr id="3" name="Shape 0"/>
          <p:cNvSpPr/>
          <p:nvPr/>
        </p:nvSpPr>
        <p:spPr>
          <a:xfrm>
            <a:off x="1714500" y="2300288"/>
            <a:ext cx="5715000" cy="547688"/>
          </a:xfrm>
          <a:prstGeom prst="rect">
            <a:avLst/>
          </a:prstGeom>
          <a:noFill/>
          <a:ln/>
        </p:spPr>
      </p:sp>
      <p:sp>
        <p:nvSpPr>
          <p:cNvPr id="4" name="Text 1"/>
          <p:cNvSpPr/>
          <p:nvPr/>
        </p:nvSpPr>
        <p:spPr>
          <a:xfrm>
            <a:off x="1714500" y="2300288"/>
            <a:ext cx="6172200" cy="547688"/>
          </a:xfrm>
          <a:prstGeom prst="rect">
            <a:avLst/>
          </a:prstGeom>
          <a:noFill/>
          <a:ln/>
        </p:spPr>
        <p:txBody>
          <a:bodyPr wrap="square" rtlCol="0" anchor="ctr"/>
          <a:lstStyle/>
          <a:p>
            <a:pPr algn="ctr" indent="0" marL="0">
              <a:lnSpc>
                <a:spcPts val="4320"/>
              </a:lnSpc>
              <a:buNone/>
            </a:pPr>
            <a:r>
              <a:rPr lang="en-US" sz="3600" b="1" spc="-72" kern="0" dirty="0">
                <a:solidFill>
                  <a:srgbClr val="FFFFFF">
                    <a:alpha val="99000"/>
                  </a:srgbClr>
                </a:solidFill>
                <a:latin typeface="Inter" pitchFamily="34" charset="0"/>
                <a:ea typeface="Inter" pitchFamily="34" charset="-122"/>
                <a:cs typeface="Inter" pitchFamily="34" charset="-120"/>
              </a:rPr>
              <a:t>Questions? Comments?</a:t>
            </a:r>
            <a:endParaRPr lang="en-US" sz="3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E1E1E"/>
        </a:solidFill>
      </p:bgPr>
    </p:bg>
    <p:spTree>
      <p:nvGrpSpPr>
        <p:cNvPr id="1" name=""/>
        <p:cNvGrpSpPr/>
        <p:nvPr/>
      </p:nvGrpSpPr>
      <p:grpSpPr>
        <a:xfrm>
          <a:off x="0" y="0"/>
          <a:ext cx="0" cy="0"/>
          <a:chOff x="0" y="0"/>
          <a:chExt cx="0" cy="0"/>
        </a:xfrm>
      </p:grpSpPr>
      <p:sp>
        <p:nvSpPr>
          <p:cNvPr id="2" name="Text 0"/>
          <p:cNvSpPr/>
          <p:nvPr/>
        </p:nvSpPr>
        <p:spPr>
          <a:xfrm>
            <a:off x="609600" y="2400300"/>
            <a:ext cx="3600450" cy="342900"/>
          </a:xfrm>
          <a:prstGeom prst="rect">
            <a:avLst/>
          </a:prstGeom>
          <a:noFill/>
          <a:ln/>
        </p:spPr>
        <p:txBody>
          <a:bodyPr wrap="square" rtlCol="0" anchor="ctr"/>
          <a:lstStyle/>
          <a:p>
            <a:pPr algn="l" indent="0" marL="0">
              <a:lnSpc>
                <a:spcPts val="2700"/>
              </a:lnSpc>
              <a:buNone/>
            </a:pPr>
            <a:r>
              <a:rPr lang="en-US" sz="2250" b="1" spc="-50" kern="0" dirty="0">
                <a:solidFill>
                  <a:srgbClr val="FFFFFF">
                    <a:alpha val="99000"/>
                  </a:srgbClr>
                </a:solidFill>
                <a:latin typeface="Inter" pitchFamily="34" charset="0"/>
                <a:ea typeface="Inter" pitchFamily="34" charset="-122"/>
                <a:cs typeface="Inter" pitchFamily="34" charset="-120"/>
              </a:rPr>
              <a:t>Assignment</a:t>
            </a:r>
            <a:endParaRPr lang="en-US" sz="2250" dirty="0"/>
          </a:p>
        </p:txBody>
      </p:sp>
      <p:sp>
        <p:nvSpPr>
          <p:cNvPr id="3" name="Text 1"/>
          <p:cNvSpPr/>
          <p:nvPr/>
        </p:nvSpPr>
        <p:spPr>
          <a:xfrm>
            <a:off x="609600" y="2986088"/>
            <a:ext cx="8229600" cy="238125"/>
          </a:xfrm>
          <a:prstGeom prst="rect">
            <a:avLst/>
          </a:prstGeom>
          <a:noFill/>
          <a:ln/>
        </p:spPr>
        <p:txBody>
          <a:bodyPr wrap="square" rtlCol="0" anchor="ctr"/>
          <a:lstStyle/>
          <a:p>
            <a:pPr algn="l" indent="0" marL="0">
              <a:lnSpc>
                <a:spcPts val="1890"/>
              </a:lnSpc>
              <a:buNone/>
            </a:pPr>
            <a:r>
              <a:rPr lang="en-US" sz="1350" spc="-13" kern="0" dirty="0">
                <a:solidFill>
                  <a:srgbClr val="FFFFFF">
                    <a:alpha val="99000"/>
                  </a:srgbClr>
                </a:solidFill>
                <a:latin typeface="Inter" pitchFamily="34" charset="0"/>
                <a:ea typeface="Inter" pitchFamily="34" charset="-122"/>
                <a:cs typeface="Inter" pitchFamily="34" charset="-120"/>
              </a:rPr>
              <a:t>github.com/wburt/demo-app/tree/main/learning_resources/tutorials/Openshift_Tutorial.md</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2025-06-17T17:01:59Z</dcterms:created>
  <dcterms:modified xsi:type="dcterms:W3CDTF">2025-06-17T17:01:59Z</dcterms:modified>
</cp:coreProperties>
</file>